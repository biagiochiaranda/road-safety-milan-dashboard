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7" r:id="rId1"/>
  </p:sldMasterIdLst>
  <p:sldIdLst>
    <p:sldId id="256" r:id="rId2"/>
    <p:sldId id="257" r:id="rId3"/>
    <p:sldId id="258" r:id="rId4"/>
    <p:sldId id="259" r:id="rId5"/>
    <p:sldId id="260" r:id="rId6"/>
    <p:sldId id="261" r:id="rId7"/>
    <p:sldId id="262" r:id="rId8"/>
    <p:sldId id="263" r:id="rId9"/>
    <p:sldId id="266"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90615-B023-4676-B111-0E9B0A912365}" v="57" dt="2026-06-07T18:47:31.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agio Chiarandà" userId="c59168cb-c9bb-471a-81e7-ad59d8eaf253" providerId="ADAL" clId="{AD4FD991-B7C2-4DD2-92E4-30C27D31812E}"/>
    <pc:docChg chg="undo custSel addSld delSld modSld">
      <pc:chgData name="Biagio Chiarandà" userId="c59168cb-c9bb-471a-81e7-ad59d8eaf253" providerId="ADAL" clId="{AD4FD991-B7C2-4DD2-92E4-30C27D31812E}" dt="2026-06-07T18:47:48.559" v="222" actId="20577"/>
      <pc:docMkLst>
        <pc:docMk/>
      </pc:docMkLst>
      <pc:sldChg chg="modSp mod">
        <pc:chgData name="Biagio Chiarandà" userId="c59168cb-c9bb-471a-81e7-ad59d8eaf253" providerId="ADAL" clId="{AD4FD991-B7C2-4DD2-92E4-30C27D31812E}" dt="2026-06-07T17:50:16.972" v="98" actId="26606"/>
        <pc:sldMkLst>
          <pc:docMk/>
          <pc:sldMk cId="0" sldId="256"/>
        </pc:sldMkLst>
        <pc:spChg chg="mod">
          <ac:chgData name="Biagio Chiarandà" userId="c59168cb-c9bb-471a-81e7-ad59d8eaf253" providerId="ADAL" clId="{AD4FD991-B7C2-4DD2-92E4-30C27D31812E}" dt="2026-06-07T17:50:16.972" v="98" actId="26606"/>
          <ac:spMkLst>
            <pc:docMk/>
            <pc:sldMk cId="0" sldId="256"/>
            <ac:spMk id="6" creationId="{00000000-0000-0000-0000-000000000000}"/>
          </ac:spMkLst>
        </pc:spChg>
        <pc:spChg chg="mod">
          <ac:chgData name="Biagio Chiarandà" userId="c59168cb-c9bb-471a-81e7-ad59d8eaf253" providerId="ADAL" clId="{AD4FD991-B7C2-4DD2-92E4-30C27D31812E}" dt="2026-06-07T17:50:16.972" v="98" actId="26606"/>
          <ac:spMkLst>
            <pc:docMk/>
            <pc:sldMk cId="0" sldId="256"/>
            <ac:spMk id="7" creationId="{00000000-0000-0000-0000-000000000000}"/>
          </ac:spMkLst>
        </pc:spChg>
        <pc:spChg chg="mod">
          <ac:chgData name="Biagio Chiarandà" userId="c59168cb-c9bb-471a-81e7-ad59d8eaf253" providerId="ADAL" clId="{AD4FD991-B7C2-4DD2-92E4-30C27D31812E}" dt="2026-06-07T17:50:16.972" v="98" actId="26606"/>
          <ac:spMkLst>
            <pc:docMk/>
            <pc:sldMk cId="0" sldId="256"/>
            <ac:spMk id="8" creationId="{00000000-0000-0000-0000-000000000000}"/>
          </ac:spMkLst>
        </pc:spChg>
        <pc:spChg chg="mod">
          <ac:chgData name="Biagio Chiarandà" userId="c59168cb-c9bb-471a-81e7-ad59d8eaf253" providerId="ADAL" clId="{AD4FD991-B7C2-4DD2-92E4-30C27D31812E}" dt="2026-06-07T17:50:16.972" v="98" actId="26606"/>
          <ac:spMkLst>
            <pc:docMk/>
            <pc:sldMk cId="0" sldId="256"/>
            <ac:spMk id="9" creationId="{00000000-0000-0000-0000-000000000000}"/>
          </ac:spMkLst>
        </pc:spChg>
        <pc:spChg chg="mod">
          <ac:chgData name="Biagio Chiarandà" userId="c59168cb-c9bb-471a-81e7-ad59d8eaf253" providerId="ADAL" clId="{AD4FD991-B7C2-4DD2-92E4-30C27D31812E}" dt="2026-06-07T17:50:16.972" v="98" actId="26606"/>
          <ac:spMkLst>
            <pc:docMk/>
            <pc:sldMk cId="0" sldId="256"/>
            <ac:spMk id="10" creationId="{00000000-0000-0000-0000-000000000000}"/>
          </ac:spMkLst>
        </pc:spChg>
      </pc:sldChg>
      <pc:sldChg chg="modSp mod">
        <pc:chgData name="Biagio Chiarandà" userId="c59168cb-c9bb-471a-81e7-ad59d8eaf253" providerId="ADAL" clId="{AD4FD991-B7C2-4DD2-92E4-30C27D31812E}" dt="2026-06-07T17:50:16.972" v="98" actId="26606"/>
        <pc:sldMkLst>
          <pc:docMk/>
          <pc:sldMk cId="0" sldId="257"/>
        </pc:sldMkLst>
        <pc:spChg chg="mod">
          <ac:chgData name="Biagio Chiarandà" userId="c59168cb-c9bb-471a-81e7-ad59d8eaf253" providerId="ADAL" clId="{AD4FD991-B7C2-4DD2-92E4-30C27D31812E}" dt="2026-06-07T17:50:16.972" v="98" actId="26606"/>
          <ac:spMkLst>
            <pc:docMk/>
            <pc:sldMk cId="0" sldId="257"/>
            <ac:spMk id="4" creationId="{00000000-0000-0000-0000-000000000000}"/>
          </ac:spMkLst>
        </pc:spChg>
        <pc:spChg chg="mod">
          <ac:chgData name="Biagio Chiarandà" userId="c59168cb-c9bb-471a-81e7-ad59d8eaf253" providerId="ADAL" clId="{AD4FD991-B7C2-4DD2-92E4-30C27D31812E}" dt="2026-06-07T17:50:16.972" v="98" actId="26606"/>
          <ac:spMkLst>
            <pc:docMk/>
            <pc:sldMk cId="0" sldId="257"/>
            <ac:spMk id="5" creationId="{00000000-0000-0000-0000-000000000000}"/>
          </ac:spMkLst>
        </pc:spChg>
      </pc:sldChg>
      <pc:sldChg chg="modSp mod">
        <pc:chgData name="Biagio Chiarandà" userId="c59168cb-c9bb-471a-81e7-ad59d8eaf253" providerId="ADAL" clId="{AD4FD991-B7C2-4DD2-92E4-30C27D31812E}" dt="2026-06-07T17:50:16.972" v="98" actId="26606"/>
        <pc:sldMkLst>
          <pc:docMk/>
          <pc:sldMk cId="0" sldId="258"/>
        </pc:sldMkLst>
        <pc:spChg chg="mod">
          <ac:chgData name="Biagio Chiarandà" userId="c59168cb-c9bb-471a-81e7-ad59d8eaf253" providerId="ADAL" clId="{AD4FD991-B7C2-4DD2-92E4-30C27D31812E}" dt="2026-06-07T17:50:16.972" v="98" actId="26606"/>
          <ac:spMkLst>
            <pc:docMk/>
            <pc:sldMk cId="0" sldId="258"/>
            <ac:spMk id="4" creationId="{00000000-0000-0000-0000-000000000000}"/>
          </ac:spMkLst>
        </pc:spChg>
        <pc:spChg chg="mod">
          <ac:chgData name="Biagio Chiarandà" userId="c59168cb-c9bb-471a-81e7-ad59d8eaf253" providerId="ADAL" clId="{AD4FD991-B7C2-4DD2-92E4-30C27D31812E}" dt="2026-06-07T17:50:16.972" v="98" actId="26606"/>
          <ac:spMkLst>
            <pc:docMk/>
            <pc:sldMk cId="0" sldId="258"/>
            <ac:spMk id="5" creationId="{00000000-0000-0000-0000-000000000000}"/>
          </ac:spMkLst>
        </pc:spChg>
        <pc:spChg chg="mod">
          <ac:chgData name="Biagio Chiarandà" userId="c59168cb-c9bb-471a-81e7-ad59d8eaf253" providerId="ADAL" clId="{AD4FD991-B7C2-4DD2-92E4-30C27D31812E}" dt="2026-06-07T17:50:16.972" v="98" actId="26606"/>
          <ac:spMkLst>
            <pc:docMk/>
            <pc:sldMk cId="0" sldId="258"/>
            <ac:spMk id="6" creationId="{00000000-0000-0000-0000-000000000000}"/>
          </ac:spMkLst>
        </pc:spChg>
      </pc:sldChg>
      <pc:sldChg chg="modSp mod">
        <pc:chgData name="Biagio Chiarandà" userId="c59168cb-c9bb-471a-81e7-ad59d8eaf253" providerId="ADAL" clId="{AD4FD991-B7C2-4DD2-92E4-30C27D31812E}" dt="2026-06-07T18:47:48.559" v="222" actId="20577"/>
        <pc:sldMkLst>
          <pc:docMk/>
          <pc:sldMk cId="0" sldId="259"/>
        </pc:sldMkLst>
        <pc:spChg chg="mod">
          <ac:chgData name="Biagio Chiarandà" userId="c59168cb-c9bb-471a-81e7-ad59d8eaf253" providerId="ADAL" clId="{AD4FD991-B7C2-4DD2-92E4-30C27D31812E}" dt="2026-06-07T17:50:16.972" v="98" actId="26606"/>
          <ac:spMkLst>
            <pc:docMk/>
            <pc:sldMk cId="0" sldId="259"/>
            <ac:spMk id="4" creationId="{00000000-0000-0000-0000-000000000000}"/>
          </ac:spMkLst>
        </pc:spChg>
        <pc:spChg chg="mod">
          <ac:chgData name="Biagio Chiarandà" userId="c59168cb-c9bb-471a-81e7-ad59d8eaf253" providerId="ADAL" clId="{AD4FD991-B7C2-4DD2-92E4-30C27D31812E}" dt="2026-06-07T18:47:48.559" v="222" actId="20577"/>
          <ac:spMkLst>
            <pc:docMk/>
            <pc:sldMk cId="0" sldId="259"/>
            <ac:spMk id="5" creationId="{00000000-0000-0000-0000-000000000000}"/>
          </ac:spMkLst>
        </pc:spChg>
      </pc:sldChg>
      <pc:sldChg chg="delSp modSp mod delDesignElem">
        <pc:chgData name="Biagio Chiarandà" userId="c59168cb-c9bb-471a-81e7-ad59d8eaf253" providerId="ADAL" clId="{AD4FD991-B7C2-4DD2-92E4-30C27D31812E}" dt="2026-06-07T18:46:56.376" v="217" actId="207"/>
        <pc:sldMkLst>
          <pc:docMk/>
          <pc:sldMk cId="0" sldId="260"/>
        </pc:sldMkLst>
        <pc:spChg chg="mod">
          <ac:chgData name="Biagio Chiarandà" userId="c59168cb-c9bb-471a-81e7-ad59d8eaf253" providerId="ADAL" clId="{AD4FD991-B7C2-4DD2-92E4-30C27D31812E}" dt="2026-06-07T17:52:53.384" v="118" actId="20577"/>
          <ac:spMkLst>
            <pc:docMk/>
            <pc:sldMk cId="0" sldId="260"/>
            <ac:spMk id="4" creationId="{00000000-0000-0000-0000-000000000000}"/>
          </ac:spMkLst>
        </pc:spChg>
        <pc:spChg chg="mod">
          <ac:chgData name="Biagio Chiarandà" userId="c59168cb-c9bb-471a-81e7-ad59d8eaf253" providerId="ADAL" clId="{AD4FD991-B7C2-4DD2-92E4-30C27D31812E}" dt="2026-06-07T18:46:56.376" v="217" actId="207"/>
          <ac:spMkLst>
            <pc:docMk/>
            <pc:sldMk cId="0" sldId="260"/>
            <ac:spMk id="5" creationId="{00000000-0000-0000-0000-000000000000}"/>
          </ac:spMkLst>
        </pc:spChg>
        <pc:spChg chg="del">
          <ac:chgData name="Biagio Chiarandà" userId="c59168cb-c9bb-471a-81e7-ad59d8eaf253" providerId="ADAL" clId="{AD4FD991-B7C2-4DD2-92E4-30C27D31812E}" dt="2026-06-07T17:39:52.337" v="1"/>
          <ac:spMkLst>
            <pc:docMk/>
            <pc:sldMk cId="0" sldId="260"/>
            <ac:spMk id="25" creationId="{603AE127-802C-459A-A612-DB85B67F0DC0}"/>
          </ac:spMkLst>
        </pc:spChg>
        <pc:spChg chg="del">
          <ac:chgData name="Biagio Chiarandà" userId="c59168cb-c9bb-471a-81e7-ad59d8eaf253" providerId="ADAL" clId="{AD4FD991-B7C2-4DD2-92E4-30C27D31812E}" dt="2026-06-07T17:39:52.337" v="1"/>
          <ac:spMkLst>
            <pc:docMk/>
            <pc:sldMk cId="0" sldId="260"/>
            <ac:spMk id="27" creationId="{9323D83D-50D6-4040-A58B-FCEA340F886A}"/>
          </ac:spMkLst>
        </pc:spChg>
        <pc:spChg chg="del">
          <ac:chgData name="Biagio Chiarandà" userId="c59168cb-c9bb-471a-81e7-ad59d8eaf253" providerId="ADAL" clId="{AD4FD991-B7C2-4DD2-92E4-30C27D31812E}" dt="2026-06-07T17:39:52.337" v="1"/>
          <ac:spMkLst>
            <pc:docMk/>
            <pc:sldMk cId="0" sldId="260"/>
            <ac:spMk id="31" creationId="{F10FD715-4DCE-4779-B634-EC78315EA213}"/>
          </ac:spMkLst>
        </pc:spChg>
        <pc:grpChg chg="del">
          <ac:chgData name="Biagio Chiarandà" userId="c59168cb-c9bb-471a-81e7-ad59d8eaf253" providerId="ADAL" clId="{AD4FD991-B7C2-4DD2-92E4-30C27D31812E}" dt="2026-06-07T17:39:52.337" v="1"/>
          <ac:grpSpMkLst>
            <pc:docMk/>
            <pc:sldMk cId="0" sldId="260"/>
            <ac:grpSpMk id="13" creationId="{09EA7EA7-74F5-4EE2-8E3D-1A10308259D7}"/>
          </ac:grpSpMkLst>
        </pc:grpChg>
        <pc:cxnChg chg="del">
          <ac:chgData name="Biagio Chiarandà" userId="c59168cb-c9bb-471a-81e7-ad59d8eaf253" providerId="ADAL" clId="{AD4FD991-B7C2-4DD2-92E4-30C27D31812E}" dt="2026-06-07T17:39:52.337" v="1"/>
          <ac:cxnSpMkLst>
            <pc:docMk/>
            <pc:sldMk cId="0" sldId="260"/>
            <ac:cxnSpMk id="29" creationId="{1A1FE6BB-DFB2-4080-9B5E-076EF5DDE67B}"/>
          </ac:cxnSpMkLst>
        </pc:cxnChg>
      </pc:sldChg>
      <pc:sldChg chg="addSp delSp modSp mod setBg">
        <pc:chgData name="Biagio Chiarandà" userId="c59168cb-c9bb-471a-81e7-ad59d8eaf253" providerId="ADAL" clId="{AD4FD991-B7C2-4DD2-92E4-30C27D31812E}" dt="2026-06-07T17:52:12.240" v="114" actId="1076"/>
        <pc:sldMkLst>
          <pc:docMk/>
          <pc:sldMk cId="0" sldId="261"/>
        </pc:sldMkLst>
        <pc:spChg chg="add del mod">
          <ac:chgData name="Biagio Chiarandà" userId="c59168cb-c9bb-471a-81e7-ad59d8eaf253" providerId="ADAL" clId="{AD4FD991-B7C2-4DD2-92E4-30C27D31812E}" dt="2026-06-07T17:50:10.647" v="97" actId="1076"/>
          <ac:spMkLst>
            <pc:docMk/>
            <pc:sldMk cId="0" sldId="261"/>
            <ac:spMk id="2" creationId="{7A45752F-D900-E06E-0CD3-1EAD7EAA9AE5}"/>
          </ac:spMkLst>
        </pc:spChg>
        <pc:spChg chg="add del mod">
          <ac:chgData name="Biagio Chiarandà" userId="c59168cb-c9bb-471a-81e7-ad59d8eaf253" providerId="ADAL" clId="{AD4FD991-B7C2-4DD2-92E4-30C27D31812E}" dt="2026-06-07T17:52:12.240" v="114" actId="1076"/>
          <ac:spMkLst>
            <pc:docMk/>
            <pc:sldMk cId="0" sldId="261"/>
            <ac:spMk id="4" creationId="{5E7282C6-DEF2-9C0C-A1C0-A8F87643384F}"/>
          </ac:spMkLst>
        </pc:spChg>
        <pc:spChg chg="add del mod">
          <ac:chgData name="Biagio Chiarandà" userId="c59168cb-c9bb-471a-81e7-ad59d8eaf253" providerId="ADAL" clId="{AD4FD991-B7C2-4DD2-92E4-30C27D31812E}" dt="2026-06-07T17:50:10.647" v="97" actId="1076"/>
          <ac:spMkLst>
            <pc:docMk/>
            <pc:sldMk cId="0" sldId="261"/>
            <ac:spMk id="8" creationId="{00000000-0000-0000-0000-000000000000}"/>
          </ac:spMkLst>
        </pc:spChg>
        <pc:spChg chg="add del mod">
          <ac:chgData name="Biagio Chiarandà" userId="c59168cb-c9bb-471a-81e7-ad59d8eaf253" providerId="ADAL" clId="{AD4FD991-B7C2-4DD2-92E4-30C27D31812E}" dt="2026-06-07T17:51:32.060" v="109"/>
          <ac:spMkLst>
            <pc:docMk/>
            <pc:sldMk cId="0" sldId="261"/>
            <ac:spMk id="9" creationId="{BDAE4B23-8077-FD6B-2ADF-A7EB5CAD5931}"/>
          </ac:spMkLst>
        </pc:spChg>
        <pc:spChg chg="add del mod">
          <ac:chgData name="Biagio Chiarandà" userId="c59168cb-c9bb-471a-81e7-ad59d8eaf253" providerId="ADAL" clId="{AD4FD991-B7C2-4DD2-92E4-30C27D31812E}" dt="2026-06-07T17:50:10.647" v="97" actId="1076"/>
          <ac:spMkLst>
            <pc:docMk/>
            <pc:sldMk cId="0" sldId="261"/>
            <ac:spMk id="16" creationId="{63BA04F6-7989-CA34-73D9-EF7F9E684BA6}"/>
          </ac:spMkLst>
        </pc:spChg>
        <pc:spChg chg="add del mod">
          <ac:chgData name="Biagio Chiarandà" userId="c59168cb-c9bb-471a-81e7-ad59d8eaf253" providerId="ADAL" clId="{AD4FD991-B7C2-4DD2-92E4-30C27D31812E}" dt="2026-06-07T17:50:10.647" v="97" actId="1076"/>
          <ac:spMkLst>
            <pc:docMk/>
            <pc:sldMk cId="0" sldId="261"/>
            <ac:spMk id="18" creationId="{C9E4B142-7DC2-32BD-2EBF-C5653A3262A0}"/>
          </ac:spMkLst>
        </pc:spChg>
        <pc:picChg chg="add del mod">
          <ac:chgData name="Biagio Chiarandà" userId="c59168cb-c9bb-471a-81e7-ad59d8eaf253" providerId="ADAL" clId="{AD4FD991-B7C2-4DD2-92E4-30C27D31812E}" dt="2026-06-07T17:51:36.355" v="110" actId="478"/>
          <ac:picMkLst>
            <pc:docMk/>
            <pc:sldMk cId="0" sldId="261"/>
            <ac:picMk id="6" creationId="{22DAD028-B81A-8B55-B1CB-459E23298024}"/>
          </ac:picMkLst>
        </pc:picChg>
        <pc:picChg chg="add del mod">
          <ac:chgData name="Biagio Chiarandà" userId="c59168cb-c9bb-471a-81e7-ad59d8eaf253" providerId="ADAL" clId="{AD4FD991-B7C2-4DD2-92E4-30C27D31812E}" dt="2026-06-07T17:50:10.647" v="97" actId="1076"/>
          <ac:picMkLst>
            <pc:docMk/>
            <pc:sldMk cId="0" sldId="261"/>
            <ac:picMk id="14" creationId="{A6EF52BB-5F8A-75E9-4343-23E8BC297E17}"/>
          </ac:picMkLst>
        </pc:picChg>
        <pc:picChg chg="add del mod">
          <ac:chgData name="Biagio Chiarandà" userId="c59168cb-c9bb-471a-81e7-ad59d8eaf253" providerId="ADAL" clId="{AD4FD991-B7C2-4DD2-92E4-30C27D31812E}" dt="2026-06-07T17:50:10.647" v="97" actId="1076"/>
          <ac:picMkLst>
            <pc:docMk/>
            <pc:sldMk cId="0" sldId="261"/>
            <ac:picMk id="2051" creationId="{538DA851-EBF1-BC88-79F4-86DC53CCE5FB}"/>
          </ac:picMkLst>
        </pc:picChg>
      </pc:sldChg>
      <pc:sldChg chg="setBg">
        <pc:chgData name="Biagio Chiarandà" userId="c59168cb-c9bb-471a-81e7-ad59d8eaf253" providerId="ADAL" clId="{AD4FD991-B7C2-4DD2-92E4-30C27D31812E}" dt="2026-06-07T17:42:57.680" v="24"/>
        <pc:sldMkLst>
          <pc:docMk/>
          <pc:sldMk cId="0" sldId="262"/>
        </pc:sldMkLst>
      </pc:sldChg>
      <pc:sldChg chg="modSp mod setBg">
        <pc:chgData name="Biagio Chiarandà" userId="c59168cb-c9bb-471a-81e7-ad59d8eaf253" providerId="ADAL" clId="{AD4FD991-B7C2-4DD2-92E4-30C27D31812E}" dt="2026-06-07T17:50:16.972" v="98" actId="26606"/>
        <pc:sldMkLst>
          <pc:docMk/>
          <pc:sldMk cId="0" sldId="263"/>
        </pc:sldMkLst>
        <pc:spChg chg="mod">
          <ac:chgData name="Biagio Chiarandà" userId="c59168cb-c9bb-471a-81e7-ad59d8eaf253" providerId="ADAL" clId="{AD4FD991-B7C2-4DD2-92E4-30C27D31812E}" dt="2026-06-07T17:50:16.972" v="98" actId="26606"/>
          <ac:spMkLst>
            <pc:docMk/>
            <pc:sldMk cId="0" sldId="263"/>
            <ac:spMk id="4" creationId="{00000000-0000-0000-0000-000000000000}"/>
          </ac:spMkLst>
        </pc:spChg>
      </pc:sldChg>
      <pc:sldChg chg="modSp mod">
        <pc:chgData name="Biagio Chiarandà" userId="c59168cb-c9bb-471a-81e7-ad59d8eaf253" providerId="ADAL" clId="{AD4FD991-B7C2-4DD2-92E4-30C27D31812E}" dt="2026-06-07T18:47:14.029" v="219"/>
        <pc:sldMkLst>
          <pc:docMk/>
          <pc:sldMk cId="0" sldId="264"/>
        </pc:sldMkLst>
        <pc:spChg chg="mod">
          <ac:chgData name="Biagio Chiarandà" userId="c59168cb-c9bb-471a-81e7-ad59d8eaf253" providerId="ADAL" clId="{AD4FD991-B7C2-4DD2-92E4-30C27D31812E}" dt="2026-06-07T17:42:02.075" v="11" actId="14100"/>
          <ac:spMkLst>
            <pc:docMk/>
            <pc:sldMk cId="0" sldId="264"/>
            <ac:spMk id="2" creationId="{00000000-0000-0000-0000-000000000000}"/>
          </ac:spMkLst>
        </pc:spChg>
        <pc:spChg chg="mod">
          <ac:chgData name="Biagio Chiarandà" userId="c59168cb-c9bb-471a-81e7-ad59d8eaf253" providerId="ADAL" clId="{AD4FD991-B7C2-4DD2-92E4-30C27D31812E}" dt="2026-06-07T17:50:16.972" v="98" actId="26606"/>
          <ac:spMkLst>
            <pc:docMk/>
            <pc:sldMk cId="0" sldId="264"/>
            <ac:spMk id="3" creationId="{00000000-0000-0000-0000-000000000000}"/>
          </ac:spMkLst>
        </pc:spChg>
        <pc:spChg chg="mod">
          <ac:chgData name="Biagio Chiarandà" userId="c59168cb-c9bb-471a-81e7-ad59d8eaf253" providerId="ADAL" clId="{AD4FD991-B7C2-4DD2-92E4-30C27D31812E}" dt="2026-06-07T18:47:14.029" v="219"/>
          <ac:spMkLst>
            <pc:docMk/>
            <pc:sldMk cId="0" sldId="264"/>
            <ac:spMk id="4" creationId="{00000000-0000-0000-0000-000000000000}"/>
          </ac:spMkLst>
        </pc:spChg>
      </pc:sldChg>
      <pc:sldChg chg="modSp mod setBg">
        <pc:chgData name="Biagio Chiarandà" userId="c59168cb-c9bb-471a-81e7-ad59d8eaf253" providerId="ADAL" clId="{AD4FD991-B7C2-4DD2-92E4-30C27D31812E}" dt="2026-06-07T17:50:16.972" v="98" actId="26606"/>
        <pc:sldMkLst>
          <pc:docMk/>
          <pc:sldMk cId="3883611998" sldId="266"/>
        </pc:sldMkLst>
        <pc:spChg chg="mod">
          <ac:chgData name="Biagio Chiarandà" userId="c59168cb-c9bb-471a-81e7-ad59d8eaf253" providerId="ADAL" clId="{AD4FD991-B7C2-4DD2-92E4-30C27D31812E}" dt="2026-06-07T17:50:16.972" v="98" actId="26606"/>
          <ac:spMkLst>
            <pc:docMk/>
            <pc:sldMk cId="3883611998" sldId="266"/>
            <ac:spMk id="4" creationId="{F3FA862A-3313-1C0D-DB86-43B56CF3B10A}"/>
          </ac:spMkLst>
        </pc:spChg>
        <pc:spChg chg="mod">
          <ac:chgData name="Biagio Chiarandà" userId="c59168cb-c9bb-471a-81e7-ad59d8eaf253" providerId="ADAL" clId="{AD4FD991-B7C2-4DD2-92E4-30C27D31812E}" dt="2026-06-07T17:50:16.972" v="98" actId="26606"/>
          <ac:spMkLst>
            <pc:docMk/>
            <pc:sldMk cId="3883611998" sldId="266"/>
            <ac:spMk id="8" creationId="{5B32C6FA-F649-6497-324E-059EFFC5C94A}"/>
          </ac:spMkLst>
        </pc:spChg>
        <pc:spChg chg="mod">
          <ac:chgData name="Biagio Chiarandà" userId="c59168cb-c9bb-471a-81e7-ad59d8eaf253" providerId="ADAL" clId="{AD4FD991-B7C2-4DD2-92E4-30C27D31812E}" dt="2026-06-07T17:50:16.972" v="98" actId="26606"/>
          <ac:spMkLst>
            <pc:docMk/>
            <pc:sldMk cId="3883611998" sldId="266"/>
            <ac:spMk id="11" creationId="{19B91713-11E2-2BCF-3CF5-C19F1F90DF2D}"/>
          </ac:spMkLst>
        </pc:spChg>
      </pc:sldChg>
      <pc:sldChg chg="new del">
        <pc:chgData name="Biagio Chiarandà" userId="c59168cb-c9bb-471a-81e7-ad59d8eaf253" providerId="ADAL" clId="{AD4FD991-B7C2-4DD2-92E4-30C27D31812E}" dt="2026-06-07T18:47:29.546" v="221" actId="680"/>
        <pc:sldMkLst>
          <pc:docMk/>
          <pc:sldMk cId="2453395840"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602456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9051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54497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201094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309557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618477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603912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06143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02980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07014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76944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519549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02949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897146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56933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56828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3805097518"/>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biagiochiaranda07-dotcom.github.io/road-safety-milan-dashboard/"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biagiochiaranda07-dotcom.github.io/road-safety-milan-dashboard/" TargetMode="External"/><Relationship Id="rId2" Type="http://schemas.openxmlformats.org/officeDocument/2006/relationships/hyperlink" Target="https://creativecommons.org/licenses/by/4.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2936" y="0"/>
            <a:ext cx="18288" cy="6858000"/>
          </a:xfrm>
          <a:prstGeom prst="rect">
            <a:avLst/>
          </a:prstGeom>
          <a:solidFill>
            <a:schemeClr val="accent1"/>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21224" y="2450592"/>
            <a:ext cx="5121915" cy="584775"/>
          </a:xfrm>
          <a:prstGeom prst="rect">
            <a:avLst/>
          </a:prstGeom>
          <a:noFill/>
        </p:spPr>
        <p:txBody>
          <a:bodyPr wrap="none">
            <a:spAutoFit/>
          </a:bodyPr>
          <a:lstStyle/>
          <a:p>
            <a:r>
              <a:rPr lang="it-IT" sz="3200" b="1" i="0">
                <a:solidFill>
                  <a:srgbClr val="111111"/>
                </a:solidFill>
                <a:latin typeface="Courier New"/>
              </a:rPr>
              <a:t>Road Safety in Milan</a:t>
            </a:r>
            <a:endParaRPr lang="it-IT" sz="3200" b="1" i="0" dirty="0">
              <a:solidFill>
                <a:srgbClr val="111111"/>
              </a:solidFill>
              <a:latin typeface="Courier New"/>
            </a:endParaRPr>
          </a:p>
        </p:txBody>
      </p:sp>
      <p:sp>
        <p:nvSpPr>
          <p:cNvPr id="7" name="TextBox 6"/>
          <p:cNvSpPr txBox="1"/>
          <p:nvPr/>
        </p:nvSpPr>
        <p:spPr>
          <a:xfrm>
            <a:off x="5330952" y="3031455"/>
            <a:ext cx="4937760" cy="584775"/>
          </a:xfrm>
          <a:prstGeom prst="rect">
            <a:avLst/>
          </a:prstGeom>
          <a:noFill/>
        </p:spPr>
        <p:txBody>
          <a:bodyPr wrap="square">
            <a:spAutoFit/>
          </a:bodyPr>
          <a:lstStyle/>
          <a:p>
            <a:r>
              <a:rPr lang="en-US" sz="1600" dirty="0">
                <a:latin typeface="+mj-lt"/>
              </a:rPr>
              <a:t>An analysis of road accidents with injuries, severity and territorial risk</a:t>
            </a:r>
            <a:endParaRPr lang="en-US" sz="1500" b="0" i="0" dirty="0">
              <a:solidFill>
                <a:srgbClr val="555555"/>
              </a:solidFill>
              <a:latin typeface="+mj-lt"/>
            </a:endParaRPr>
          </a:p>
        </p:txBody>
      </p:sp>
      <p:sp>
        <p:nvSpPr>
          <p:cNvPr id="8" name="TextBox 7"/>
          <p:cNvSpPr txBox="1"/>
          <p:nvPr/>
        </p:nvSpPr>
        <p:spPr>
          <a:xfrm>
            <a:off x="5312664" y="5354252"/>
            <a:ext cx="4937760" cy="795089"/>
          </a:xfrm>
          <a:prstGeom prst="rect">
            <a:avLst/>
          </a:prstGeom>
          <a:noFill/>
        </p:spPr>
        <p:txBody>
          <a:bodyPr wrap="square">
            <a:spAutoFit/>
          </a:bodyPr>
          <a:lstStyle/>
          <a:p>
            <a:pPr>
              <a:lnSpc>
                <a:spcPct val="100000"/>
              </a:lnSpc>
              <a:spcAft>
                <a:spcPts val="400"/>
              </a:spcAft>
            </a:pPr>
            <a:r>
              <a:rPr lang="en-US" sz="1300" dirty="0">
                <a:solidFill>
                  <a:srgbClr val="222222"/>
                </a:solidFill>
                <a:latin typeface="Arial"/>
              </a:rPr>
              <a:t>Student name: Biagio Chiarandà</a:t>
            </a:r>
          </a:p>
          <a:p>
            <a:pPr>
              <a:lnSpc>
                <a:spcPct val="100000"/>
              </a:lnSpc>
              <a:spcAft>
                <a:spcPts val="400"/>
              </a:spcAft>
            </a:pPr>
            <a:r>
              <a:rPr lang="en-US" sz="1300" dirty="0">
                <a:solidFill>
                  <a:srgbClr val="222222"/>
                </a:solidFill>
                <a:latin typeface="Arial"/>
              </a:rPr>
              <a:t>Student ID: 938221</a:t>
            </a:r>
          </a:p>
          <a:p>
            <a:pPr>
              <a:lnSpc>
                <a:spcPct val="100000"/>
              </a:lnSpc>
              <a:spcAft>
                <a:spcPts val="400"/>
              </a:spcAft>
            </a:pPr>
            <a:r>
              <a:rPr lang="en-US" sz="1300" dirty="0">
                <a:solidFill>
                  <a:srgbClr val="222222"/>
                </a:solidFill>
                <a:latin typeface="Arial"/>
              </a:rPr>
              <a:t>Student e-mail address: b.chiaranda@campus.unimib.it</a:t>
            </a:r>
          </a:p>
        </p:txBody>
      </p:sp>
      <p:sp>
        <p:nvSpPr>
          <p:cNvPr id="9" name="TextBox 8"/>
          <p:cNvSpPr txBox="1"/>
          <p:nvPr/>
        </p:nvSpPr>
        <p:spPr>
          <a:xfrm>
            <a:off x="594360" y="6473952"/>
            <a:ext cx="2887329" cy="215444"/>
          </a:xfrm>
          <a:prstGeom prst="rect">
            <a:avLst/>
          </a:prstGeom>
          <a:noFill/>
        </p:spPr>
        <p:txBody>
          <a:bodyPr wrap="none">
            <a:spAutoFit/>
          </a:bodyPr>
          <a:lstStyle/>
          <a:p>
            <a:r>
              <a:rPr lang="en-US" sz="800">
                <a:solidFill>
                  <a:srgbClr val="777777"/>
                </a:solidFill>
                <a:latin typeface="Arial"/>
              </a:rPr>
              <a:t>Milano Road Safety Dashboard • Data Visualization Project</a:t>
            </a:r>
            <a:endParaRPr lang="en-US" sz="800" dirty="0">
              <a:solidFill>
                <a:srgbClr val="777777"/>
              </a:solidFill>
              <a:latin typeface="Arial"/>
            </a:endParaRPr>
          </a:p>
        </p:txBody>
      </p:sp>
      <p:sp>
        <p:nvSpPr>
          <p:cNvPr id="10" name="TextBox 9"/>
          <p:cNvSpPr txBox="1"/>
          <p:nvPr/>
        </p:nvSpPr>
        <p:spPr>
          <a:xfrm>
            <a:off x="5330952" y="6460796"/>
            <a:ext cx="2008883" cy="215444"/>
          </a:xfrm>
          <a:prstGeom prst="rect">
            <a:avLst/>
          </a:prstGeom>
          <a:noFill/>
        </p:spPr>
        <p:txBody>
          <a:bodyPr wrap="none">
            <a:spAutoFit/>
          </a:bodyPr>
          <a:lstStyle/>
          <a:p>
            <a:r>
              <a:rPr lang="it-IT" sz="800" b="0" i="0">
                <a:solidFill>
                  <a:srgbClr val="777777"/>
                </a:solidFill>
                <a:latin typeface="Arial"/>
              </a:rPr>
              <a:t>Sources: Comune di Milano Open Data</a:t>
            </a:r>
            <a:r>
              <a:rPr lang="it-IT" sz="800">
                <a:solidFill>
                  <a:srgbClr val="777777"/>
                </a:solidFill>
                <a:latin typeface="Arial"/>
              </a:rPr>
              <a:t>.</a:t>
            </a:r>
            <a:endParaRPr lang="it-IT" sz="800" b="0" i="0" dirty="0">
              <a:solidFill>
                <a:srgbClr val="777777"/>
              </a:solidFill>
              <a:latin typeface="Arial"/>
            </a:endParaRPr>
          </a:p>
        </p:txBody>
      </p:sp>
      <p:pic>
        <p:nvPicPr>
          <p:cNvPr id="1026" name="Picture 2">
            <a:extLst>
              <a:ext uri="{FF2B5EF4-FFF2-40B4-BE49-F238E27FC236}">
                <a16:creationId xmlns:a16="http://schemas.microsoft.com/office/drawing/2014/main" id="{96400342-99B1-D67B-C8F5-27FD28B10E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776" y="2887217"/>
            <a:ext cx="4260720" cy="342442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4F6DC4A-967F-9B5B-2015-B59E55F12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564642"/>
            <a:ext cx="4574626" cy="22680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1325880"/>
            <a:ext cx="10972800" cy="640080"/>
          </a:xfrm>
          <a:prstGeom prst="rect">
            <a:avLst/>
          </a:prstGeom>
          <a:noFill/>
        </p:spPr>
        <p:txBody>
          <a:bodyPr wrap="none">
            <a:spAutoFit/>
          </a:bodyPr>
          <a:lstStyle/>
          <a:p>
            <a:r>
              <a:rPr lang="it-IT" sz="2800" b="1" i="0">
                <a:solidFill>
                  <a:srgbClr val="111111"/>
                </a:solidFill>
                <a:latin typeface="Courier New"/>
              </a:rPr>
              <a:t>Research questions</a:t>
            </a:r>
            <a:endParaRPr lang="it-IT" sz="2800" b="1" i="0" dirty="0">
              <a:solidFill>
                <a:srgbClr val="111111"/>
              </a:solidFill>
              <a:latin typeface="Courier New"/>
            </a:endParaRPr>
          </a:p>
        </p:txBody>
      </p:sp>
      <p:sp>
        <p:nvSpPr>
          <p:cNvPr id="5" name="TextBox 4"/>
          <p:cNvSpPr txBox="1"/>
          <p:nvPr/>
        </p:nvSpPr>
        <p:spPr>
          <a:xfrm>
            <a:off x="731521" y="1931154"/>
            <a:ext cx="8439912" cy="2718693"/>
          </a:xfrm>
          <a:prstGeom prst="rect">
            <a:avLst/>
          </a:prstGeom>
          <a:noFill/>
        </p:spPr>
        <p:txBody>
          <a:bodyPr wrap="square">
            <a:spAutoFit/>
          </a:bodyPr>
          <a:lstStyle/>
          <a:p>
            <a:pPr>
              <a:spcAft>
                <a:spcPts val="800"/>
              </a:spcAft>
            </a:pPr>
            <a:r>
              <a:rPr lang="en-US" sz="1800">
                <a:solidFill>
                  <a:srgbClr val="14233B"/>
                </a:solidFill>
                <a:latin typeface="Arial"/>
              </a:rPr>
              <a:t>How has road safety changed in Milan over time, and which indicators best describe</a:t>
            </a:r>
            <a:r>
              <a:rPr lang="en-US">
                <a:solidFill>
                  <a:srgbClr val="14233B"/>
                </a:solidFill>
                <a:latin typeface="Arial"/>
              </a:rPr>
              <a:t> </a:t>
            </a:r>
            <a:r>
              <a:rPr lang="en-US" sz="1800">
                <a:solidFill>
                  <a:srgbClr val="14233B"/>
                </a:solidFill>
                <a:latin typeface="Arial"/>
              </a:rPr>
              <a:t>this change?</a:t>
            </a:r>
          </a:p>
          <a:p>
            <a:pPr>
              <a:spcAft>
                <a:spcPts val="800"/>
              </a:spcAft>
            </a:pPr>
            <a:r>
              <a:rPr lang="en-US" sz="1800">
                <a:solidFill>
                  <a:srgbClr val="14233B"/>
                </a:solidFill>
                <a:latin typeface="Arial"/>
              </a:rPr>
              <a:t>Which recent changes emerge when comparing 2001 and 2024 in Milan city?</a:t>
            </a:r>
          </a:p>
          <a:p>
            <a:pPr>
              <a:spcAft>
                <a:spcPts val="800"/>
              </a:spcAft>
            </a:pPr>
            <a:r>
              <a:rPr lang="en-US" sz="1800">
                <a:solidFill>
                  <a:srgbClr val="14233B"/>
                </a:solidFill>
                <a:latin typeface="Arial"/>
              </a:rPr>
              <a:t>Do incidents, injured people and deaths move in the same direction, or do they tell different stories?</a:t>
            </a:r>
          </a:p>
          <a:p>
            <a:pPr>
              <a:spcAft>
                <a:spcPts val="800"/>
              </a:spcAft>
            </a:pPr>
            <a:r>
              <a:rPr lang="en-US" sz="1800">
                <a:solidFill>
                  <a:srgbClr val="14233B"/>
                </a:solidFill>
                <a:latin typeface="Arial"/>
              </a:rPr>
              <a:t>Which Milan municipalities show the highest road accident risk in 2024?</a:t>
            </a:r>
            <a:endParaRPr lang="en-US" sz="1800" dirty="0">
              <a:solidFill>
                <a:srgbClr val="14233B"/>
              </a:solidFill>
              <a:latin typeface="Arial"/>
            </a:endParaRPr>
          </a:p>
          <a:p>
            <a:pPr>
              <a:spcAft>
                <a:spcPts val="800"/>
              </a:spcAft>
            </a:pPr>
            <a:r>
              <a:rPr lang="en-US" sz="1800">
                <a:solidFill>
                  <a:srgbClr val="14233B"/>
                </a:solidFill>
                <a:latin typeface="Arial"/>
              </a:rPr>
              <a:t>Which limitations should be considered when using police-recorded accident data?</a:t>
            </a:r>
            <a:endParaRPr sz="1800" dirty="0">
              <a:solidFill>
                <a:srgbClr val="14233B"/>
              </a:solidFill>
              <a:latin typeface="Arial"/>
            </a:endParaRPr>
          </a:p>
        </p:txBody>
      </p:sp>
      <p:sp>
        <p:nvSpPr>
          <p:cNvPr id="6" name="TextBox 5"/>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9120" y="501235"/>
            <a:ext cx="10972800" cy="640080"/>
          </a:xfrm>
          <a:prstGeom prst="rect">
            <a:avLst/>
          </a:prstGeom>
          <a:noFill/>
        </p:spPr>
        <p:txBody>
          <a:bodyPr wrap="none">
            <a:spAutoFit/>
          </a:bodyPr>
          <a:lstStyle/>
          <a:p>
            <a:r>
              <a:rPr lang="it-IT" sz="2800" b="1" i="0">
                <a:solidFill>
                  <a:srgbClr val="111111"/>
                </a:solidFill>
                <a:latin typeface="Courier New"/>
              </a:rPr>
              <a:t>About Data</a:t>
            </a:r>
            <a:endParaRPr lang="it-IT" sz="2800" b="1" i="0" dirty="0">
              <a:solidFill>
                <a:srgbClr val="111111"/>
              </a:solidFill>
              <a:latin typeface="Courier New"/>
            </a:endParaRPr>
          </a:p>
        </p:txBody>
      </p:sp>
      <p:sp>
        <p:nvSpPr>
          <p:cNvPr id="5" name="TextBox 4"/>
          <p:cNvSpPr txBox="1"/>
          <p:nvPr/>
        </p:nvSpPr>
        <p:spPr>
          <a:xfrm>
            <a:off x="640080" y="1069848"/>
            <a:ext cx="5394960" cy="2554545"/>
          </a:xfrm>
          <a:prstGeom prst="rect">
            <a:avLst/>
          </a:prstGeom>
          <a:noFill/>
        </p:spPr>
        <p:txBody>
          <a:bodyPr wrap="square">
            <a:spAutoFit/>
          </a:bodyPr>
          <a:lstStyle/>
          <a:p>
            <a:pPr>
              <a:lnSpc>
                <a:spcPct val="100000"/>
              </a:lnSpc>
              <a:spcAft>
                <a:spcPts val="400"/>
              </a:spcAft>
            </a:pPr>
            <a:r>
              <a:rPr lang="en-US" sz="1500">
                <a:solidFill>
                  <a:srgbClr val="14233B"/>
                </a:solidFill>
                <a:latin typeface="Arial"/>
              </a:rPr>
              <a:t>Chosen datasets</a:t>
            </a:r>
          </a:p>
          <a:p>
            <a:pPr marL="285750" indent="-285750">
              <a:lnSpc>
                <a:spcPct val="100000"/>
              </a:lnSpc>
              <a:spcAft>
                <a:spcPts val="400"/>
              </a:spcAft>
              <a:buFont typeface="Arial" panose="020B0604020202020204" pitchFamily="34" charset="0"/>
              <a:buChar char="•"/>
            </a:pPr>
            <a:r>
              <a:rPr lang="en-US" sz="1500">
                <a:solidFill>
                  <a:srgbClr val="14233B"/>
                </a:solidFill>
                <a:latin typeface="Arial"/>
              </a:rPr>
              <a:t> Municipality of Milan Open Data: road accidents with injuries and injured people by month and number of vehicles involved (2001-2024).</a:t>
            </a:r>
          </a:p>
          <a:p>
            <a:pPr marL="285750" indent="-285750">
              <a:lnSpc>
                <a:spcPct val="100000"/>
              </a:lnSpc>
              <a:spcAft>
                <a:spcPts val="400"/>
              </a:spcAft>
              <a:buFont typeface="Arial" panose="020B0604020202020204" pitchFamily="34" charset="0"/>
              <a:buChar char="•"/>
            </a:pPr>
            <a:r>
              <a:rPr lang="it-IT" sz="1500">
                <a:solidFill>
                  <a:srgbClr val="14233B"/>
                </a:solidFill>
                <a:latin typeface="Arial"/>
              </a:rPr>
              <a:t> </a:t>
            </a:r>
            <a:r>
              <a:rPr sz="1500">
                <a:solidFill>
                  <a:srgbClr val="14233B"/>
                </a:solidFill>
                <a:latin typeface="Arial"/>
              </a:rPr>
              <a:t>Municipality </a:t>
            </a:r>
            <a:r>
              <a:rPr sz="1500" dirty="0">
                <a:solidFill>
                  <a:srgbClr val="14233B"/>
                </a:solidFill>
                <a:latin typeface="Arial"/>
              </a:rPr>
              <a:t>of Milan Open Data: road accidents with injuries by month and municipality / former decentralization zone (2001-2024).</a:t>
            </a:r>
            <a:endParaRPr lang="it-IT" sz="1500" dirty="0">
              <a:solidFill>
                <a:srgbClr val="14233B"/>
              </a:solidFill>
              <a:latin typeface="Arial"/>
            </a:endParaRPr>
          </a:p>
          <a:p>
            <a:pPr marL="285750" indent="-285750">
              <a:lnSpc>
                <a:spcPct val="100000"/>
              </a:lnSpc>
              <a:spcAft>
                <a:spcPts val="400"/>
              </a:spcAft>
              <a:buFont typeface="Arial" panose="020B0604020202020204" pitchFamily="34" charset="0"/>
              <a:buChar char="•"/>
            </a:pPr>
            <a:r>
              <a:rPr sz="1500" dirty="0">
                <a:solidFill>
                  <a:srgbClr val="14233B"/>
                </a:solidFill>
                <a:latin typeface="Arial"/>
              </a:rPr>
              <a:t>Municipality of Milan Open Data: </a:t>
            </a:r>
            <a:r>
              <a:rPr lang="en-US" sz="1500" dirty="0">
                <a:solidFill>
                  <a:srgbClr val="14233B"/>
                </a:solidFill>
                <a:latin typeface="Arial"/>
              </a:rPr>
              <a:t>resident population by citizenship and municipality (1999-2025), </a:t>
            </a:r>
            <a:r>
              <a:rPr sz="1500" dirty="0">
                <a:solidFill>
                  <a:srgbClr val="14233B"/>
                </a:solidFill>
                <a:latin typeface="Arial"/>
              </a:rPr>
              <a:t>used for normalized indicators.</a:t>
            </a:r>
          </a:p>
        </p:txBody>
      </p:sp>
      <p:sp>
        <p:nvSpPr>
          <p:cNvPr id="6" name="TextBox 5"/>
          <p:cNvSpPr txBox="1"/>
          <p:nvPr/>
        </p:nvSpPr>
        <p:spPr>
          <a:xfrm>
            <a:off x="640080" y="3870796"/>
            <a:ext cx="8321040" cy="1913344"/>
          </a:xfrm>
          <a:prstGeom prst="rect">
            <a:avLst/>
          </a:prstGeom>
          <a:noFill/>
        </p:spPr>
        <p:txBody>
          <a:bodyPr wrap="square">
            <a:spAutoFit/>
          </a:bodyPr>
          <a:lstStyle/>
          <a:p>
            <a:pPr>
              <a:lnSpc>
                <a:spcPct val="100000"/>
              </a:lnSpc>
              <a:spcAft>
                <a:spcPts val="400"/>
              </a:spcAft>
            </a:pPr>
            <a:r>
              <a:rPr lang="it-IT" sz="1500">
                <a:solidFill>
                  <a:srgbClr val="14233B"/>
                </a:solidFill>
                <a:latin typeface="Arial"/>
              </a:rPr>
              <a:t>Quality and limitations</a:t>
            </a:r>
          </a:p>
          <a:p>
            <a:pPr marL="285750" indent="-285750">
              <a:lnSpc>
                <a:spcPct val="100000"/>
              </a:lnSpc>
              <a:spcAft>
                <a:spcPts val="400"/>
              </a:spcAft>
              <a:buFont typeface="Arial" panose="020B0604020202020204" pitchFamily="34" charset="0"/>
              <a:buChar char="•"/>
            </a:pPr>
            <a:r>
              <a:rPr sz="1500">
                <a:solidFill>
                  <a:srgbClr val="14233B"/>
                </a:solidFill>
                <a:latin typeface="Arial"/>
              </a:rPr>
              <a:t>The </a:t>
            </a:r>
            <a:r>
              <a:rPr sz="1500" dirty="0">
                <a:solidFill>
                  <a:srgbClr val="14233B"/>
                </a:solidFill>
                <a:latin typeface="Arial"/>
              </a:rPr>
              <a:t>data counts police-recorded road accidents with injuries. Accidents without deaths or injuries are excluded.</a:t>
            </a:r>
            <a:endParaRPr lang="it-IT" sz="1500" dirty="0">
              <a:solidFill>
                <a:srgbClr val="14233B"/>
              </a:solidFill>
              <a:latin typeface="Arial"/>
            </a:endParaRPr>
          </a:p>
          <a:p>
            <a:pPr marL="285750" indent="-285750">
              <a:lnSpc>
                <a:spcPct val="100000"/>
              </a:lnSpc>
              <a:spcAft>
                <a:spcPts val="400"/>
              </a:spcAft>
              <a:buFont typeface="Arial" panose="020B0604020202020204" pitchFamily="34" charset="0"/>
              <a:buChar char="•"/>
            </a:pPr>
            <a:r>
              <a:rPr sz="1500" dirty="0">
                <a:solidFill>
                  <a:srgbClr val="14233B"/>
                </a:solidFill>
                <a:latin typeface="Arial"/>
              </a:rPr>
              <a:t>Deaths are counted when the injured person dies within 30 days from the accident.</a:t>
            </a:r>
            <a:endParaRPr lang="it-IT" sz="1500" dirty="0">
              <a:solidFill>
                <a:srgbClr val="14233B"/>
              </a:solidFill>
              <a:latin typeface="Arial"/>
            </a:endParaRPr>
          </a:p>
          <a:p>
            <a:pPr marL="285750" indent="-285750">
              <a:lnSpc>
                <a:spcPct val="100000"/>
              </a:lnSpc>
              <a:spcAft>
                <a:spcPts val="400"/>
              </a:spcAft>
              <a:buFont typeface="Arial" panose="020B0604020202020204" pitchFamily="34" charset="0"/>
              <a:buChar char="•"/>
            </a:pPr>
            <a:r>
              <a:rPr sz="1500" dirty="0">
                <a:solidFill>
                  <a:srgbClr val="14233B"/>
                </a:solidFill>
                <a:latin typeface="Arial"/>
              </a:rPr>
              <a:t>Some territorial records can have missing municipality information.</a:t>
            </a:r>
            <a:endParaRPr lang="it-IT" sz="1500" dirty="0">
              <a:solidFill>
                <a:srgbClr val="14233B"/>
              </a:solidFill>
              <a:latin typeface="Arial"/>
            </a:endParaRPr>
          </a:p>
          <a:p>
            <a:pPr marL="285750" indent="-285750">
              <a:lnSpc>
                <a:spcPct val="100000"/>
              </a:lnSpc>
              <a:spcAft>
                <a:spcPts val="400"/>
              </a:spcAft>
              <a:buFont typeface="Arial" panose="020B0604020202020204" pitchFamily="34" charset="0"/>
              <a:buChar char="•"/>
            </a:pPr>
            <a:r>
              <a:rPr lang="it-IT" sz="1500">
                <a:solidFill>
                  <a:srgbClr val="14233B"/>
                </a:solidFill>
                <a:latin typeface="Arial"/>
              </a:rPr>
              <a:t> </a:t>
            </a:r>
            <a:r>
              <a:rPr sz="1500">
                <a:solidFill>
                  <a:srgbClr val="14233B"/>
                </a:solidFill>
                <a:latin typeface="Arial"/>
              </a:rPr>
              <a:t>Population </a:t>
            </a:r>
            <a:r>
              <a:rPr sz="1500" dirty="0">
                <a:solidFill>
                  <a:srgbClr val="14233B"/>
                </a:solidFill>
                <a:latin typeface="Arial"/>
              </a:rPr>
              <a:t>normalization is useful, but residents do not measure daily traffic flows, commuting or tourism.</a:t>
            </a:r>
          </a:p>
        </p:txBody>
      </p:sp>
      <p:sp>
        <p:nvSpPr>
          <p:cNvPr id="7" name="TextBox 6"/>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1480" y="295977"/>
            <a:ext cx="10972800" cy="640080"/>
          </a:xfrm>
          <a:prstGeom prst="rect">
            <a:avLst/>
          </a:prstGeom>
          <a:noFill/>
        </p:spPr>
        <p:txBody>
          <a:bodyPr wrap="none">
            <a:spAutoFit/>
          </a:bodyPr>
          <a:lstStyle/>
          <a:p>
            <a:r>
              <a:rPr lang="it-IT" sz="2800" b="1" i="0">
                <a:solidFill>
                  <a:srgbClr val="111111"/>
                </a:solidFill>
                <a:latin typeface="Courier New"/>
              </a:rPr>
              <a:t>Methodology</a:t>
            </a:r>
            <a:endParaRPr lang="it-IT" sz="2800" b="1" i="0" dirty="0">
              <a:solidFill>
                <a:srgbClr val="111111"/>
              </a:solidFill>
              <a:latin typeface="Courier New"/>
            </a:endParaRPr>
          </a:p>
        </p:txBody>
      </p:sp>
      <p:sp>
        <p:nvSpPr>
          <p:cNvPr id="5" name="TextBox 4"/>
          <p:cNvSpPr txBox="1"/>
          <p:nvPr/>
        </p:nvSpPr>
        <p:spPr>
          <a:xfrm>
            <a:off x="487680" y="1005841"/>
            <a:ext cx="8695944" cy="4688463"/>
          </a:xfrm>
          <a:prstGeom prst="rect">
            <a:avLst/>
          </a:prstGeom>
          <a:noFill/>
        </p:spPr>
        <p:txBody>
          <a:bodyPr wrap="square">
            <a:spAutoFit/>
          </a:bodyPr>
          <a:lstStyle/>
          <a:p>
            <a:pPr>
              <a:spcAft>
                <a:spcPts val="800"/>
              </a:spcAft>
            </a:pPr>
            <a:r>
              <a:rPr lang="en-US" sz="1400" b="1" dirty="0">
                <a:latin typeface="Arial"/>
              </a:rPr>
              <a:t>Data collection</a:t>
            </a:r>
            <a:r>
              <a:rPr lang="en-US" sz="1400" dirty="0">
                <a:latin typeface="Arial"/>
              </a:rPr>
              <a:t>: data sources were identified on the official Open Data portal of the Municipality of Milan. The datasets were available in machine-readable formats such as CSV/JSON and were downloaded from the portal.</a:t>
            </a:r>
          </a:p>
          <a:p>
            <a:pPr>
              <a:spcAft>
                <a:spcPts val="800"/>
              </a:spcAft>
            </a:pPr>
            <a:r>
              <a:rPr lang="en-US" sz="1400" b="1" dirty="0">
                <a:solidFill>
                  <a:srgbClr val="14233B"/>
                </a:solidFill>
                <a:latin typeface="Arial"/>
              </a:rPr>
              <a:t>Data processing</a:t>
            </a:r>
            <a:r>
              <a:rPr lang="en-US" sz="1400" dirty="0">
                <a:solidFill>
                  <a:srgbClr val="14233B"/>
                </a:solidFill>
                <a:latin typeface="Arial"/>
              </a:rPr>
              <a:t>: Python/pandas was used to download, clean and aggregate the datasets. The HTML dashboard performs client-side aggregation for interactive exploration.</a:t>
            </a:r>
          </a:p>
          <a:p>
            <a:pPr>
              <a:spcAft>
                <a:spcPts val="800"/>
              </a:spcAft>
            </a:pPr>
            <a:r>
              <a:rPr lang="en-US" sz="1400" b="1" dirty="0">
                <a:solidFill>
                  <a:srgbClr val="14233B"/>
                </a:solidFill>
                <a:latin typeface="Arial"/>
              </a:rPr>
              <a:t>Data cleaning</a:t>
            </a:r>
            <a:r>
              <a:rPr lang="en-US" sz="1400" dirty="0">
                <a:solidFill>
                  <a:srgbClr val="14233B"/>
                </a:solidFill>
                <a:latin typeface="Arial"/>
              </a:rPr>
              <a:t>: I checked column names, numeric formats, missing values, year/month consistency and municipality coding. Municipality numbers were matched with readable municipality names to improve interpretation.</a:t>
            </a:r>
          </a:p>
          <a:p>
            <a:pPr>
              <a:spcAft>
                <a:spcPts val="800"/>
              </a:spcAft>
            </a:pPr>
            <a:r>
              <a:rPr lang="en-US" sz="1400" b="1" dirty="0">
                <a:solidFill>
                  <a:srgbClr val="14233B"/>
                </a:solidFill>
                <a:latin typeface="Arial"/>
              </a:rPr>
              <a:t>Data transformation</a:t>
            </a:r>
            <a:r>
              <a:rPr lang="en-US" sz="1400" dirty="0">
                <a:solidFill>
                  <a:srgbClr val="14233B"/>
                </a:solidFill>
                <a:latin typeface="Arial"/>
              </a:rPr>
              <a:t>: monthly records were aggregated by year and month. Injured people were calculated as injured + deaths, while severity was calculated as injured people per incident.</a:t>
            </a:r>
          </a:p>
          <a:p>
            <a:pPr>
              <a:spcAft>
                <a:spcPts val="800"/>
              </a:spcAft>
            </a:pPr>
            <a:r>
              <a:rPr lang="en-US" sz="1400" b="1" dirty="0">
                <a:solidFill>
                  <a:srgbClr val="14233B"/>
                </a:solidFill>
                <a:latin typeface="Arial"/>
              </a:rPr>
              <a:t>Normalization</a:t>
            </a:r>
            <a:r>
              <a:rPr lang="en-US" sz="1400" dirty="0">
                <a:solidFill>
                  <a:srgbClr val="14233B"/>
                </a:solidFill>
                <a:latin typeface="Arial"/>
              </a:rPr>
              <a:t>: territorial analysis uses resident population to compute incidents per 10,000 residents when population data are available.</a:t>
            </a:r>
          </a:p>
          <a:p>
            <a:pPr>
              <a:spcAft>
                <a:spcPts val="800"/>
              </a:spcAft>
            </a:pPr>
            <a:r>
              <a:rPr lang="en-US" sz="1400" b="1" dirty="0">
                <a:solidFill>
                  <a:srgbClr val="14233B"/>
                </a:solidFill>
                <a:latin typeface="Arial"/>
              </a:rPr>
              <a:t>Analytical techniques</a:t>
            </a:r>
            <a:r>
              <a:rPr lang="en-US" sz="1400" dirty="0">
                <a:solidFill>
                  <a:srgbClr val="14233B"/>
                </a:solidFill>
                <a:latin typeface="Arial"/>
              </a:rPr>
              <a:t>: I used descriptive statistics, trend analysis, comparison between years, maximum-value detection and rates/ratios to identify the main patterns.</a:t>
            </a:r>
          </a:p>
          <a:p>
            <a:pPr>
              <a:spcAft>
                <a:spcPts val="800"/>
              </a:spcAft>
            </a:pPr>
            <a:r>
              <a:rPr lang="en-US" sz="1400" b="1" dirty="0">
                <a:solidFill>
                  <a:srgbClr val="14233B"/>
                </a:solidFill>
                <a:latin typeface="Arial"/>
              </a:rPr>
              <a:t>Visualization tools</a:t>
            </a:r>
            <a:r>
              <a:rPr lang="en-US" sz="1400" dirty="0">
                <a:solidFill>
                  <a:srgbClr val="14233B"/>
                </a:solidFill>
                <a:latin typeface="Arial"/>
              </a:rPr>
              <a:t>: Matplotlib was used to create static charts for the pitch; HTML/JavaScript/SVG was used for the interactive dashboard.</a:t>
            </a:r>
          </a:p>
          <a:p>
            <a:pPr>
              <a:spcAft>
                <a:spcPts val="800"/>
              </a:spcAft>
            </a:pPr>
            <a:r>
              <a:rPr lang="en-US" sz="1400" b="1" dirty="0">
                <a:solidFill>
                  <a:srgbClr val="14233B"/>
                </a:solidFill>
                <a:latin typeface="Arial"/>
              </a:rPr>
              <a:t>Reproducibility</a:t>
            </a:r>
            <a:r>
              <a:rPr lang="en-US" sz="1400" dirty="0">
                <a:solidFill>
                  <a:srgbClr val="14233B"/>
                </a:solidFill>
                <a:latin typeface="Arial"/>
              </a:rPr>
              <a:t>: all scripts, sources </a:t>
            </a:r>
            <a:r>
              <a:rPr lang="en-US" sz="1400">
                <a:solidFill>
                  <a:srgbClr val="14233B"/>
                </a:solidFill>
                <a:latin typeface="Arial"/>
              </a:rPr>
              <a:t>and dashboard </a:t>
            </a:r>
            <a:r>
              <a:rPr lang="en-US" sz="1400" dirty="0">
                <a:solidFill>
                  <a:srgbClr val="14233B"/>
                </a:solidFill>
                <a:latin typeface="Arial"/>
              </a:rPr>
              <a:t>are included in the final project folder, so the analysis can be replicated.</a:t>
            </a:r>
            <a:endParaRPr sz="1400" dirty="0">
              <a:solidFill>
                <a:srgbClr val="14233B"/>
              </a:solidFill>
              <a:latin typeface="Arial"/>
            </a:endParaRPr>
          </a:p>
        </p:txBody>
      </p:sp>
      <p:sp>
        <p:nvSpPr>
          <p:cNvPr id="6" name="TextBox 5"/>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1043950" y="1179151"/>
            <a:ext cx="3300646" cy="4463889"/>
          </a:xfrm>
          <a:prstGeom prst="rect">
            <a:avLst/>
          </a:prstGeom>
        </p:spPr>
        <p:txBody>
          <a:bodyPr vert="horz" lIns="91440" tIns="45720" rIns="91440" bIns="45720" rtlCol="0" anchor="ctr">
            <a:normAutofit/>
          </a:bodyPr>
          <a:lstStyle/>
          <a:p>
            <a:pPr>
              <a:spcBef>
                <a:spcPct val="0"/>
              </a:spcBef>
              <a:spcAft>
                <a:spcPts val="600"/>
              </a:spcAft>
            </a:pPr>
            <a:r>
              <a:rPr lang="en-US" sz="3600" b="1" i="0" dirty="0">
                <a:solidFill>
                  <a:schemeClr val="accent1"/>
                </a:solidFill>
                <a:latin typeface="+mj-lt"/>
                <a:ea typeface="+mj-ea"/>
                <a:cs typeface="+mj-cs"/>
              </a:rPr>
              <a:t>Insights from the Data</a:t>
            </a:r>
          </a:p>
        </p:txBody>
      </p:sp>
      <p:sp>
        <p:nvSpPr>
          <p:cNvPr id="5" name="TextBox 4"/>
          <p:cNvSpPr txBox="1"/>
          <p:nvPr/>
        </p:nvSpPr>
        <p:spPr>
          <a:xfrm>
            <a:off x="3713536" y="1127050"/>
            <a:ext cx="6341016" cy="4603900"/>
          </a:xfrm>
          <a:prstGeom prst="rect">
            <a:avLst/>
          </a:prstGeom>
        </p:spPr>
        <p:txBody>
          <a:bodyPr vert="horz" lIns="91440" tIns="45720" rIns="91440" bIns="45720" rtlCol="0" anchor="ctr">
            <a:normAutofit/>
          </a:bodyPr>
          <a:lstStyle/>
          <a:p>
            <a:r>
              <a:rPr lang="it-IT" dirty="0" err="1">
                <a:latin typeface="Arial" panose="020B0604020202020204" pitchFamily="34" charset="0"/>
                <a:cs typeface="Arial" panose="020B0604020202020204" pitchFamily="34" charset="0"/>
              </a:rPr>
              <a:t>This</a:t>
            </a:r>
            <a:r>
              <a:rPr lang="it-IT" dirty="0">
                <a:latin typeface="Arial" panose="020B0604020202020204" pitchFamily="34" charset="0"/>
                <a:cs typeface="Arial" panose="020B0604020202020204" pitchFamily="34" charset="0"/>
              </a:rPr>
              <a:t> project </a:t>
            </a:r>
            <a:r>
              <a:rPr lang="it-IT" dirty="0" err="1">
                <a:latin typeface="Arial" panose="020B0604020202020204" pitchFamily="34" charset="0"/>
                <a:cs typeface="Arial" panose="020B0604020202020204" pitchFamily="34" charset="0"/>
              </a:rPr>
              <a:t>analyzes</a:t>
            </a:r>
            <a:r>
              <a:rPr lang="it-IT" dirty="0">
                <a:latin typeface="Arial" panose="020B0604020202020204" pitchFamily="34" charset="0"/>
                <a:cs typeface="Arial" panose="020B0604020202020204" pitchFamily="34" charset="0"/>
              </a:rPr>
              <a:t> the </a:t>
            </a:r>
            <a:r>
              <a:rPr lang="it-IT" dirty="0" err="1">
                <a:latin typeface="Arial" panose="020B0604020202020204" pitchFamily="34" charset="0"/>
                <a:cs typeface="Arial" panose="020B0604020202020204" pitchFamily="34" charset="0"/>
              </a:rPr>
              <a:t>evolution</a:t>
            </a:r>
            <a:r>
              <a:rPr lang="it-IT" dirty="0">
                <a:latin typeface="Arial" panose="020B0604020202020204" pitchFamily="34" charset="0"/>
                <a:cs typeface="Arial" panose="020B0604020202020204" pitchFamily="34" charset="0"/>
              </a:rPr>
              <a:t> of road </a:t>
            </a:r>
            <a:r>
              <a:rPr lang="it-IT" dirty="0" err="1">
                <a:latin typeface="Arial" panose="020B0604020202020204" pitchFamily="34" charset="0"/>
                <a:cs typeface="Arial" panose="020B0604020202020204" pitchFamily="34" charset="0"/>
              </a:rPr>
              <a:t>safety</a:t>
            </a:r>
            <a:r>
              <a:rPr lang="it-IT" dirty="0">
                <a:latin typeface="Arial" panose="020B0604020202020204" pitchFamily="34" charset="0"/>
                <a:cs typeface="Arial" panose="020B0604020202020204" pitchFamily="34" charset="0"/>
              </a:rPr>
              <a:t> in Milan by </a:t>
            </a:r>
            <a:r>
              <a:rPr lang="it-IT" dirty="0" err="1">
                <a:latin typeface="Arial" panose="020B0604020202020204" pitchFamily="34" charset="0"/>
                <a:cs typeface="Arial" panose="020B0604020202020204" pitchFamily="34" charset="0"/>
              </a:rPr>
              <a:t>combining</a:t>
            </a:r>
            <a:r>
              <a:rPr lang="it-IT" dirty="0">
                <a:latin typeface="Arial" panose="020B0604020202020204" pitchFamily="34" charset="0"/>
                <a:cs typeface="Arial" panose="020B0604020202020204" pitchFamily="34" charset="0"/>
              </a:rPr>
              <a:t> </a:t>
            </a:r>
            <a:r>
              <a:rPr lang="it-IT" b="1" dirty="0" err="1">
                <a:latin typeface="Arial" panose="020B0604020202020204" pitchFamily="34" charset="0"/>
                <a:cs typeface="Arial" panose="020B0604020202020204" pitchFamily="34" charset="0"/>
              </a:rPr>
              <a:t>accident</a:t>
            </a:r>
            <a:r>
              <a:rPr lang="it-IT" b="1" dirty="0">
                <a:latin typeface="Arial" panose="020B0604020202020204" pitchFamily="34" charset="0"/>
                <a:cs typeface="Arial" panose="020B0604020202020204" pitchFamily="34" charset="0"/>
              </a:rPr>
              <a:t> volume</a:t>
            </a:r>
            <a:r>
              <a:rPr lang="it-IT" dirty="0">
                <a:latin typeface="Arial" panose="020B0604020202020204" pitchFamily="34" charset="0"/>
                <a:cs typeface="Arial" panose="020B0604020202020204" pitchFamily="34" charset="0"/>
              </a:rPr>
              <a:t>, </a:t>
            </a:r>
            <a:r>
              <a:rPr lang="it-IT" b="1" dirty="0" err="1">
                <a:latin typeface="Arial" panose="020B0604020202020204" pitchFamily="34" charset="0"/>
                <a:cs typeface="Arial" panose="020B0604020202020204" pitchFamily="34" charset="0"/>
              </a:rPr>
              <a:t>injured</a:t>
            </a:r>
            <a:r>
              <a:rPr lang="it-IT" b="1" dirty="0">
                <a:latin typeface="Arial" panose="020B0604020202020204" pitchFamily="34" charset="0"/>
                <a:cs typeface="Arial" panose="020B0604020202020204" pitchFamily="34" charset="0"/>
              </a:rPr>
              <a:t> people </a:t>
            </a:r>
            <a:r>
              <a:rPr lang="it-IT" dirty="0">
                <a:latin typeface="Arial" panose="020B0604020202020204" pitchFamily="34" charset="0"/>
                <a:cs typeface="Arial" panose="020B0604020202020204" pitchFamily="34" charset="0"/>
              </a:rPr>
              <a:t>and </a:t>
            </a:r>
            <a:r>
              <a:rPr lang="it-IT" b="1" dirty="0" err="1">
                <a:latin typeface="Arial" panose="020B0604020202020204" pitchFamily="34" charset="0"/>
                <a:cs typeface="Arial" panose="020B0604020202020204" pitchFamily="34" charset="0"/>
              </a:rPr>
              <a:t>severity</a:t>
            </a:r>
            <a:r>
              <a:rPr lang="it-IT" dirty="0">
                <a:latin typeface="Arial" panose="020B0604020202020204" pitchFamily="34" charset="0"/>
                <a:cs typeface="Arial" panose="020B0604020202020204" pitchFamily="34" charset="0"/>
              </a:rPr>
              <a:t> </a:t>
            </a:r>
            <a:r>
              <a:rPr lang="it-IT" b="1" dirty="0" err="1">
                <a:latin typeface="Arial" panose="020B0604020202020204" pitchFamily="34" charset="0"/>
                <a:cs typeface="Arial" panose="020B0604020202020204" pitchFamily="34" charset="0"/>
              </a:rPr>
              <a:t>indicators</a:t>
            </a:r>
            <a:r>
              <a:rPr lang="it-IT" dirty="0">
                <a:latin typeface="Arial" panose="020B0604020202020204" pitchFamily="34" charset="0"/>
                <a:cs typeface="Arial" panose="020B0604020202020204" pitchFamily="34" charset="0"/>
              </a:rPr>
              <a:t>. The </a:t>
            </a:r>
            <a:r>
              <a:rPr lang="it-IT" dirty="0" err="1">
                <a:latin typeface="Arial" panose="020B0604020202020204" pitchFamily="34" charset="0"/>
                <a:cs typeface="Arial" panose="020B0604020202020204" pitchFamily="34" charset="0"/>
              </a:rPr>
              <a:t>analysis</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also</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considers</a:t>
            </a:r>
            <a:r>
              <a:rPr lang="it-IT" dirty="0">
                <a:latin typeface="Arial" panose="020B0604020202020204" pitchFamily="34" charset="0"/>
                <a:cs typeface="Arial" panose="020B0604020202020204" pitchFamily="34" charset="0"/>
              </a:rPr>
              <a:t> </a:t>
            </a:r>
            <a:r>
              <a:rPr lang="it-IT" b="1" dirty="0">
                <a:latin typeface="Arial" panose="020B0604020202020204" pitchFamily="34" charset="0"/>
                <a:cs typeface="Arial" panose="020B0604020202020204" pitchFamily="34" charset="0"/>
              </a:rPr>
              <a:t>the </a:t>
            </a:r>
            <a:r>
              <a:rPr lang="it-IT" b="1" dirty="0" err="1">
                <a:latin typeface="Arial" panose="020B0604020202020204" pitchFamily="34" charset="0"/>
                <a:cs typeface="Arial" panose="020B0604020202020204" pitchFamily="34" charset="0"/>
              </a:rPr>
              <a:t>number</a:t>
            </a:r>
            <a:r>
              <a:rPr lang="it-IT" b="1" dirty="0">
                <a:latin typeface="Arial" panose="020B0604020202020204" pitchFamily="34" charset="0"/>
                <a:cs typeface="Arial" panose="020B0604020202020204" pitchFamily="34" charset="0"/>
              </a:rPr>
              <a:t> of </a:t>
            </a:r>
            <a:r>
              <a:rPr lang="it-IT" b="1" dirty="0" err="1">
                <a:latin typeface="Arial" panose="020B0604020202020204" pitchFamily="34" charset="0"/>
                <a:cs typeface="Arial" panose="020B0604020202020204" pitchFamily="34" charset="0"/>
              </a:rPr>
              <a:t>vehicles</a:t>
            </a:r>
            <a:r>
              <a:rPr lang="it-IT" b="1" dirty="0">
                <a:latin typeface="Arial" panose="020B0604020202020204" pitchFamily="34" charset="0"/>
                <a:cs typeface="Arial" panose="020B0604020202020204" pitchFamily="34" charset="0"/>
              </a:rPr>
              <a:t> </a:t>
            </a:r>
            <a:r>
              <a:rPr lang="it-IT" b="1" dirty="0" err="1">
                <a:latin typeface="Arial" panose="020B0604020202020204" pitchFamily="34" charset="0"/>
                <a:cs typeface="Arial" panose="020B0604020202020204" pitchFamily="34" charset="0"/>
              </a:rPr>
              <a:t>involved</a:t>
            </a:r>
            <a:r>
              <a:rPr lang="it-IT" dirty="0">
                <a:latin typeface="Arial" panose="020B0604020202020204" pitchFamily="34" charset="0"/>
                <a:cs typeface="Arial" panose="020B0604020202020204" pitchFamily="34" charset="0"/>
              </a:rPr>
              <a:t> in </a:t>
            </a:r>
            <a:r>
              <a:rPr lang="it-IT" dirty="0" err="1">
                <a:latin typeface="Arial" panose="020B0604020202020204" pitchFamily="34" charset="0"/>
                <a:cs typeface="Arial" panose="020B0604020202020204" pitchFamily="34" charset="0"/>
              </a:rPr>
              <a:t>each</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accident</a:t>
            </a:r>
            <a:r>
              <a:rPr lang="it-IT" dirty="0">
                <a:latin typeface="Arial" panose="020B0604020202020204" pitchFamily="34" charset="0"/>
                <a:cs typeface="Arial" panose="020B0604020202020204" pitchFamily="34" charset="0"/>
              </a:rPr>
              <a:t> and the </a:t>
            </a:r>
            <a:r>
              <a:rPr lang="it-IT" b="1" dirty="0" err="1">
                <a:latin typeface="Arial" panose="020B0604020202020204" pitchFamily="34" charset="0"/>
                <a:cs typeface="Arial" panose="020B0604020202020204" pitchFamily="34" charset="0"/>
              </a:rPr>
              <a:t>areas</a:t>
            </a:r>
            <a:r>
              <a:rPr lang="it-IT" b="1" dirty="0">
                <a:latin typeface="Arial" panose="020B0604020202020204" pitchFamily="34" charset="0"/>
                <a:cs typeface="Arial" panose="020B0604020202020204" pitchFamily="34" charset="0"/>
              </a:rPr>
              <a:t> of the city </a:t>
            </a:r>
            <a:r>
              <a:rPr lang="it-IT" dirty="0" err="1">
                <a:latin typeface="Arial" panose="020B0604020202020204" pitchFamily="34" charset="0"/>
                <a:cs typeface="Arial" panose="020B0604020202020204" pitchFamily="34" charset="0"/>
              </a:rPr>
              <a:t>where</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accidents</a:t>
            </a:r>
            <a:r>
              <a:rPr lang="it-IT" dirty="0">
                <a:latin typeface="Arial" panose="020B0604020202020204" pitchFamily="34" charset="0"/>
                <a:cs typeface="Arial" panose="020B0604020202020204" pitchFamily="34" charset="0"/>
              </a:rPr>
              <a:t> are more </a:t>
            </a:r>
            <a:r>
              <a:rPr lang="it-IT" dirty="0" err="1">
                <a:latin typeface="Arial" panose="020B0604020202020204" pitchFamily="34" charset="0"/>
                <a:cs typeface="Arial" panose="020B0604020202020204" pitchFamily="34" charset="0"/>
              </a:rPr>
              <a:t>concentrated</a:t>
            </a:r>
            <a:r>
              <a:rPr lang="it-IT" dirty="0">
                <a:latin typeface="Arial" panose="020B0604020202020204" pitchFamily="34" charset="0"/>
                <a:cs typeface="Arial" panose="020B0604020202020204" pitchFamily="34" charset="0"/>
              </a:rPr>
              <a:t>.</a:t>
            </a:r>
          </a:p>
          <a:p>
            <a:endParaRPr lang="it-IT" dirty="0">
              <a:latin typeface="Arial" panose="020B0604020202020204" pitchFamily="34" charset="0"/>
              <a:cs typeface="Arial" panose="020B0604020202020204" pitchFamily="34" charset="0"/>
            </a:endParaRPr>
          </a:p>
          <a:p>
            <a:r>
              <a:rPr lang="it-IT" dirty="0">
                <a:latin typeface="Arial" panose="020B0604020202020204" pitchFamily="34" charset="0"/>
                <a:cs typeface="Arial" panose="020B0604020202020204" pitchFamily="34" charset="0"/>
              </a:rPr>
              <a:t>The dashboard supports </a:t>
            </a:r>
            <a:r>
              <a:rPr lang="it-IT" dirty="0" err="1">
                <a:latin typeface="Arial" panose="020B0604020202020204" pitchFamily="34" charset="0"/>
                <a:cs typeface="Arial" panose="020B0604020202020204" pitchFamily="34" charset="0"/>
              </a:rPr>
              <a:t>this</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analysis</a:t>
            </a:r>
            <a:r>
              <a:rPr lang="it-IT" dirty="0">
                <a:latin typeface="Arial" panose="020B0604020202020204" pitchFamily="34" charset="0"/>
                <a:cs typeface="Arial" panose="020B0604020202020204" pitchFamily="34" charset="0"/>
              </a:rPr>
              <a:t> by </a:t>
            </a:r>
            <a:r>
              <a:rPr lang="it-IT" dirty="0" err="1">
                <a:latin typeface="Arial" panose="020B0604020202020204" pitchFamily="34" charset="0"/>
                <a:cs typeface="Arial" panose="020B0604020202020204" pitchFamily="34" charset="0"/>
              </a:rPr>
              <a:t>allowing</a:t>
            </a:r>
            <a:r>
              <a:rPr lang="it-IT" dirty="0">
                <a:latin typeface="Arial" panose="020B0604020202020204" pitchFamily="34" charset="0"/>
                <a:cs typeface="Arial" panose="020B0604020202020204" pitchFamily="34" charset="0"/>
              </a:rPr>
              <a:t> users to </a:t>
            </a:r>
            <a:r>
              <a:rPr lang="it-IT" dirty="0" err="1">
                <a:latin typeface="Arial" panose="020B0604020202020204" pitchFamily="34" charset="0"/>
                <a:cs typeface="Arial" panose="020B0604020202020204" pitchFamily="34" charset="0"/>
              </a:rPr>
              <a:t>explore</a:t>
            </a:r>
            <a:r>
              <a:rPr lang="it-IT" dirty="0">
                <a:latin typeface="Arial" panose="020B0604020202020204" pitchFamily="34" charset="0"/>
                <a:cs typeface="Arial" panose="020B0604020202020204" pitchFamily="34" charset="0"/>
              </a:rPr>
              <a:t> the data </a:t>
            </a:r>
            <a:r>
              <a:rPr lang="it-IT" dirty="0" err="1">
                <a:latin typeface="Arial" panose="020B0604020202020204" pitchFamily="34" charset="0"/>
                <a:cs typeface="Arial" panose="020B0604020202020204" pitchFamily="34" charset="0"/>
              </a:rPr>
              <a:t>interactively</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through</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yearly</a:t>
            </a:r>
            <a:r>
              <a:rPr lang="it-IT" dirty="0">
                <a:latin typeface="Arial" panose="020B0604020202020204" pitchFamily="34" charset="0"/>
                <a:cs typeface="Arial" panose="020B0604020202020204" pitchFamily="34" charset="0"/>
              </a:rPr>
              <a:t> trends, </a:t>
            </a:r>
            <a:r>
              <a:rPr lang="it-IT" dirty="0" err="1">
                <a:latin typeface="Arial" panose="020B0604020202020204" pitchFamily="34" charset="0"/>
                <a:cs typeface="Arial" panose="020B0604020202020204" pitchFamily="34" charset="0"/>
              </a:rPr>
              <a:t>monthly</a:t>
            </a:r>
            <a:r>
              <a:rPr lang="it-IT" dirty="0">
                <a:latin typeface="Arial" panose="020B0604020202020204" pitchFamily="34" charset="0"/>
                <a:cs typeface="Arial" panose="020B0604020202020204" pitchFamily="34" charset="0"/>
              </a:rPr>
              <a:t> patterns, </a:t>
            </a:r>
            <a:r>
              <a:rPr lang="it-IT" dirty="0" err="1">
                <a:latin typeface="Arial" panose="020B0604020202020204" pitchFamily="34" charset="0"/>
                <a:cs typeface="Arial" panose="020B0604020202020204" pitchFamily="34" charset="0"/>
              </a:rPr>
              <a:t>vehicle-involvement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categories</a:t>
            </a:r>
            <a:r>
              <a:rPr lang="it-IT" dirty="0">
                <a:latin typeface="Arial" panose="020B0604020202020204" pitchFamily="34" charset="0"/>
                <a:cs typeface="Arial" panose="020B0604020202020204" pitchFamily="34" charset="0"/>
              </a:rPr>
              <a:t> and </a:t>
            </a:r>
            <a:r>
              <a:rPr lang="it-IT" dirty="0" err="1">
                <a:latin typeface="Arial" panose="020B0604020202020204" pitchFamily="34" charset="0"/>
                <a:cs typeface="Arial" panose="020B0604020202020204" pitchFamily="34" charset="0"/>
              </a:rPr>
              <a:t>municipality-level</a:t>
            </a:r>
            <a:r>
              <a:rPr lang="it-IT" dirty="0">
                <a:latin typeface="Arial" panose="020B0604020202020204" pitchFamily="34" charset="0"/>
                <a:cs typeface="Arial" panose="020B0604020202020204" pitchFamily="34" charset="0"/>
              </a:rPr>
              <a:t> rankings. </a:t>
            </a:r>
            <a:r>
              <a:rPr lang="it-IT" dirty="0" err="1">
                <a:latin typeface="Arial" panose="020B0604020202020204" pitchFamily="34" charset="0"/>
                <a:cs typeface="Arial" panose="020B0604020202020204" pitchFamily="34" charset="0"/>
              </a:rPr>
              <a:t>Its</a:t>
            </a:r>
            <a:r>
              <a:rPr lang="it-IT" dirty="0">
                <a:latin typeface="Arial" panose="020B0604020202020204" pitchFamily="34" charset="0"/>
                <a:cs typeface="Arial" panose="020B0604020202020204" pitchFamily="34" charset="0"/>
              </a:rPr>
              <a:t> goal </a:t>
            </a:r>
            <a:r>
              <a:rPr lang="it-IT" dirty="0" err="1">
                <a:latin typeface="Arial" panose="020B0604020202020204" pitchFamily="34" charset="0"/>
                <a:cs typeface="Arial" panose="020B0604020202020204" pitchFamily="34" charset="0"/>
              </a:rPr>
              <a:t>is</a:t>
            </a:r>
            <a:r>
              <a:rPr lang="it-IT" dirty="0">
                <a:latin typeface="Arial" panose="020B0604020202020204" pitchFamily="34" charset="0"/>
                <a:cs typeface="Arial" panose="020B0604020202020204" pitchFamily="34" charset="0"/>
              </a:rPr>
              <a:t> to provide a more complete </a:t>
            </a:r>
            <a:r>
              <a:rPr lang="it-IT" dirty="0" err="1">
                <a:latin typeface="Arial" panose="020B0604020202020204" pitchFamily="34" charset="0"/>
                <a:cs typeface="Arial" panose="020B0604020202020204" pitchFamily="34" charset="0"/>
              </a:rPr>
              <a:t>view</a:t>
            </a:r>
            <a:r>
              <a:rPr lang="it-IT" dirty="0">
                <a:latin typeface="Arial" panose="020B0604020202020204" pitchFamily="34" charset="0"/>
                <a:cs typeface="Arial" panose="020B0604020202020204" pitchFamily="34" charset="0"/>
              </a:rPr>
              <a:t> of road </a:t>
            </a:r>
            <a:r>
              <a:rPr lang="it-IT" dirty="0" err="1">
                <a:latin typeface="Arial" panose="020B0604020202020204" pitchFamily="34" charset="0"/>
                <a:cs typeface="Arial" panose="020B0604020202020204" pitchFamily="34" charset="0"/>
              </a:rPr>
              <a:t>safety</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showing</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not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only</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whether</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accidents</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decreased</a:t>
            </a:r>
            <a:r>
              <a:rPr lang="it-IT" dirty="0">
                <a:latin typeface="Arial" panose="020B0604020202020204" pitchFamily="34" charset="0"/>
                <a:cs typeface="Arial" panose="020B0604020202020204" pitchFamily="34" charset="0"/>
              </a:rPr>
              <a:t> over time, </a:t>
            </a:r>
            <a:r>
              <a:rPr lang="it-IT" dirty="0" err="1">
                <a:latin typeface="Arial" panose="020B0604020202020204" pitchFamily="34" charset="0"/>
                <a:cs typeface="Arial" panose="020B0604020202020204" pitchFamily="34" charset="0"/>
              </a:rPr>
              <a:t>but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also</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how</a:t>
            </a:r>
            <a:r>
              <a:rPr lang="it-IT" dirty="0">
                <a:latin typeface="Arial" panose="020B0604020202020204" pitchFamily="34" charset="0"/>
                <a:cs typeface="Arial" panose="020B0604020202020204" pitchFamily="34" charset="0"/>
              </a:rPr>
              <a:t> severe </a:t>
            </a:r>
            <a:r>
              <a:rPr lang="it-IT" dirty="0" err="1">
                <a:latin typeface="Arial" panose="020B0604020202020204" pitchFamily="34" charset="0"/>
                <a:cs typeface="Arial" panose="020B0604020202020204" pitchFamily="34" charset="0"/>
              </a:rPr>
              <a:t>they</a:t>
            </a:r>
            <a:r>
              <a:rPr lang="it-IT" dirty="0">
                <a:latin typeface="Arial" panose="020B0604020202020204" pitchFamily="34" charset="0"/>
                <a:cs typeface="Arial" panose="020B0604020202020204" pitchFamily="34" charset="0"/>
              </a:rPr>
              <a:t> are, </a:t>
            </a:r>
            <a:r>
              <a:rPr lang="it-IT" dirty="0" err="1">
                <a:latin typeface="Arial" panose="020B0604020202020204" pitchFamily="34" charset="0"/>
                <a:cs typeface="Arial" panose="020B0604020202020204" pitchFamily="34" charset="0"/>
              </a:rPr>
              <a:t>what</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types</a:t>
            </a:r>
            <a:r>
              <a:rPr lang="it-IT" dirty="0">
                <a:latin typeface="Arial" panose="020B0604020202020204" pitchFamily="34" charset="0"/>
                <a:cs typeface="Arial" panose="020B0604020202020204" pitchFamily="34" charset="0"/>
              </a:rPr>
              <a:t> of </a:t>
            </a:r>
            <a:r>
              <a:rPr lang="it-IT" dirty="0" err="1">
                <a:latin typeface="Arial" panose="020B0604020202020204" pitchFamily="34" charset="0"/>
                <a:cs typeface="Arial" panose="020B0604020202020204" pitchFamily="34" charset="0"/>
              </a:rPr>
              <a:t>accidents</a:t>
            </a:r>
            <a:r>
              <a:rPr lang="it-IT" dirty="0">
                <a:latin typeface="Arial" panose="020B0604020202020204" pitchFamily="34" charset="0"/>
                <a:cs typeface="Arial" panose="020B0604020202020204" pitchFamily="34" charset="0"/>
              </a:rPr>
              <a:t> are more common, and </a:t>
            </a:r>
            <a:r>
              <a:rPr lang="it-IT" dirty="0" err="1">
                <a:latin typeface="Arial" panose="020B0604020202020204" pitchFamily="34" charset="0"/>
                <a:cs typeface="Arial" panose="020B0604020202020204" pitchFamily="34" charset="0"/>
              </a:rPr>
              <a:t>which</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municipalities</a:t>
            </a:r>
            <a:r>
              <a:rPr lang="it-IT" dirty="0">
                <a:latin typeface="Arial" panose="020B0604020202020204" pitchFamily="34" charset="0"/>
                <a:cs typeface="Arial" panose="020B0604020202020204" pitchFamily="34" charset="0"/>
              </a:rPr>
              <a:t> show </a:t>
            </a:r>
            <a:r>
              <a:rPr lang="it-IT" dirty="0" err="1">
                <a:latin typeface="Arial" panose="020B0604020202020204" pitchFamily="34" charset="0"/>
                <a:cs typeface="Arial" panose="020B0604020202020204" pitchFamily="34" charset="0"/>
              </a:rPr>
              <a:t>higher</a:t>
            </a:r>
            <a:r>
              <a:rPr lang="it-IT" dirty="0">
                <a:latin typeface="Arial" panose="020B0604020202020204" pitchFamily="34" charset="0"/>
                <a:cs typeface="Arial" panose="020B0604020202020204" pitchFamily="34" charset="0"/>
              </a:rPr>
              <a:t> road-</a:t>
            </a:r>
            <a:r>
              <a:rPr lang="it-IT" dirty="0" err="1">
                <a:latin typeface="Arial" panose="020B0604020202020204" pitchFamily="34" charset="0"/>
                <a:cs typeface="Arial" panose="020B0604020202020204" pitchFamily="34" charset="0"/>
              </a:rPr>
              <a:t>safety</a:t>
            </a:r>
            <a:r>
              <a:rPr lang="it-IT" dirty="0">
                <a:latin typeface="Arial" panose="020B0604020202020204" pitchFamily="34" charset="0"/>
                <a:cs typeface="Arial" panose="020B0604020202020204" pitchFamily="34" charset="0"/>
              </a:rPr>
              <a:t> risk.</a:t>
            </a:r>
            <a:br>
              <a:rPr lang="it-IT" dirty="0">
                <a:latin typeface="Arial" panose="020B0604020202020204" pitchFamily="34" charset="0"/>
                <a:cs typeface="Arial" panose="020B0604020202020204" pitchFamily="34" charset="0"/>
              </a:rPr>
            </a:br>
            <a:br>
              <a:rPr lang="it-IT" dirty="0">
                <a:latin typeface="Arial" panose="020B0604020202020204" pitchFamily="34" charset="0"/>
                <a:cs typeface="Arial" panose="020B0604020202020204" pitchFamily="34" charset="0"/>
              </a:rPr>
            </a:br>
            <a:r>
              <a:rPr lang="it-IT" dirty="0">
                <a:solidFill>
                  <a:schemeClr val="bg2"/>
                </a:solidFill>
                <a:hlinkClick r:id="rId2">
                  <a:extLst>
                    <a:ext uri="{A12FA001-AC4F-418D-AE19-62706E023703}">
                      <ahyp:hlinkClr xmlns:ahyp="http://schemas.microsoft.com/office/drawing/2018/hyperlinkcolor" val="tx"/>
                    </a:ext>
                  </a:extLst>
                </a:hlinkClick>
              </a:rPr>
              <a:t>Open the interactive dashboard</a:t>
            </a:r>
            <a:endParaRPr lang="it-IT" dirty="0">
              <a:solidFill>
                <a:schemeClr val="bg2"/>
              </a:solidFill>
              <a:latin typeface="Arial" panose="020B0604020202020204" pitchFamily="34" charset="0"/>
              <a:cs typeface="Arial" panose="020B0604020202020204" pitchFamily="34" charset="0"/>
            </a:endParaRPr>
          </a:p>
        </p:txBody>
      </p:sp>
      <p:sp>
        <p:nvSpPr>
          <p:cNvPr id="7" name="TextBox 6"/>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extBox 7"/>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pic>
        <p:nvPicPr>
          <p:cNvPr id="14" name="Immagine 13">
            <a:extLst>
              <a:ext uri="{FF2B5EF4-FFF2-40B4-BE49-F238E27FC236}">
                <a16:creationId xmlns:a16="http://schemas.microsoft.com/office/drawing/2014/main" id="{A6EF52BB-5F8A-75E9-4343-23E8BC297E17}"/>
              </a:ext>
            </a:extLst>
          </p:cNvPr>
          <p:cNvPicPr>
            <a:picLocks noChangeAspect="1"/>
          </p:cNvPicPr>
          <p:nvPr/>
        </p:nvPicPr>
        <p:blipFill>
          <a:blip r:embed="rId2"/>
          <a:stretch>
            <a:fillRect/>
          </a:stretch>
        </p:blipFill>
        <p:spPr>
          <a:xfrm>
            <a:off x="594360" y="4913199"/>
            <a:ext cx="5951511" cy="718975"/>
          </a:xfrm>
          <a:prstGeom prst="rect">
            <a:avLst/>
          </a:prstGeom>
        </p:spPr>
      </p:pic>
      <p:pic>
        <p:nvPicPr>
          <p:cNvPr id="2051" name="Picture 3">
            <a:extLst>
              <a:ext uri="{FF2B5EF4-FFF2-40B4-BE49-F238E27FC236}">
                <a16:creationId xmlns:a16="http://schemas.microsoft.com/office/drawing/2014/main" id="{538DA851-EBF1-BC88-79F4-86DC53CCE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33" y="1225826"/>
            <a:ext cx="5951511" cy="3550446"/>
          </a:xfrm>
          <a:prstGeom prst="rect">
            <a:avLst/>
          </a:prstGeom>
          <a:noFill/>
          <a:extLst>
            <a:ext uri="{909E8E84-426E-40DD-AFC4-6F175D3DCCD1}">
              <a14:hiddenFill xmlns:a14="http://schemas.microsoft.com/office/drawing/2010/main">
                <a:solidFill>
                  <a:srgbClr val="FFFFFF"/>
                </a:solidFill>
              </a14:hiddenFill>
            </a:ext>
          </a:extLst>
        </p:spPr>
      </p:pic>
      <p:sp>
        <p:nvSpPr>
          <p:cNvPr id="16" name="CasellaDiTesto 15">
            <a:extLst>
              <a:ext uri="{FF2B5EF4-FFF2-40B4-BE49-F238E27FC236}">
                <a16:creationId xmlns:a16="http://schemas.microsoft.com/office/drawing/2014/main" id="{63BA04F6-7989-CA34-73D9-EF7F9E684BA6}"/>
              </a:ext>
            </a:extLst>
          </p:cNvPr>
          <p:cNvSpPr txBox="1"/>
          <p:nvPr/>
        </p:nvSpPr>
        <p:spPr>
          <a:xfrm>
            <a:off x="7679826" y="665610"/>
            <a:ext cx="3694176" cy="307777"/>
          </a:xfrm>
          <a:prstGeom prst="rect">
            <a:avLst/>
          </a:prstGeom>
          <a:noFill/>
        </p:spPr>
        <p:txBody>
          <a:bodyPr wrap="square">
            <a:spAutoFit/>
          </a:bodyPr>
          <a:lstStyle/>
          <a:p>
            <a:endParaRPr lang="it-IT" sz="1400" dirty="0">
              <a:latin typeface="Arial" panose="020B0604020202020204" pitchFamily="34" charset="0"/>
              <a:cs typeface="Arial" panose="020B0604020202020204" pitchFamily="34" charset="0"/>
            </a:endParaRPr>
          </a:p>
        </p:txBody>
      </p:sp>
      <p:sp>
        <p:nvSpPr>
          <p:cNvPr id="18" name="CasellaDiTesto 17">
            <a:extLst>
              <a:ext uri="{FF2B5EF4-FFF2-40B4-BE49-F238E27FC236}">
                <a16:creationId xmlns:a16="http://schemas.microsoft.com/office/drawing/2014/main" id="{C9E4B142-7DC2-32BD-2EBF-C5653A3262A0}"/>
              </a:ext>
            </a:extLst>
          </p:cNvPr>
          <p:cNvSpPr txBox="1"/>
          <p:nvPr/>
        </p:nvSpPr>
        <p:spPr>
          <a:xfrm>
            <a:off x="505933" y="480944"/>
            <a:ext cx="7998243" cy="369332"/>
          </a:xfrm>
          <a:prstGeom prst="rect">
            <a:avLst/>
          </a:prstGeom>
          <a:noFill/>
        </p:spPr>
        <p:txBody>
          <a:bodyPr wrap="square">
            <a:spAutoFit/>
          </a:bodyPr>
          <a:lstStyle/>
          <a:p>
            <a:pPr>
              <a:spcAft>
                <a:spcPts val="800"/>
              </a:spcAft>
            </a:pPr>
            <a:endParaRPr lang="en-US" sz="1800" b="1" dirty="0">
              <a:latin typeface="Courier New" panose="02070309020205020404" pitchFamily="49" charset="0"/>
              <a:cs typeface="Courier New" panose="02070309020205020404" pitchFamily="49" charset="0"/>
            </a:endParaRPr>
          </a:p>
        </p:txBody>
      </p:sp>
      <p:sp>
        <p:nvSpPr>
          <p:cNvPr id="2" name="TextBox 3">
            <a:extLst>
              <a:ext uri="{FF2B5EF4-FFF2-40B4-BE49-F238E27FC236}">
                <a16:creationId xmlns:a16="http://schemas.microsoft.com/office/drawing/2014/main" id="{7A45752F-D900-E06E-0CD3-1EAD7EAA9AE5}"/>
              </a:ext>
            </a:extLst>
          </p:cNvPr>
          <p:cNvSpPr txBox="1"/>
          <p:nvPr/>
        </p:nvSpPr>
        <p:spPr>
          <a:xfrm>
            <a:off x="411480" y="295977"/>
            <a:ext cx="11110734" cy="810478"/>
          </a:xfrm>
          <a:prstGeom prst="rect">
            <a:avLst/>
          </a:prstGeom>
          <a:noFill/>
        </p:spPr>
        <p:txBody>
          <a:bodyPr wrap="none">
            <a:spAutoFit/>
          </a:bodyPr>
          <a:lstStyle/>
          <a:p>
            <a:pPr>
              <a:spcAft>
                <a:spcPts val="800"/>
              </a:spcAft>
            </a:pPr>
            <a:r>
              <a:rPr lang="en-US" sz="2000" b="1" dirty="0">
                <a:latin typeface="Courier New" panose="02070309020205020404" pitchFamily="49" charset="0"/>
                <a:cs typeface="Courier New" panose="02070309020205020404" pitchFamily="49" charset="0"/>
              </a:rPr>
              <a:t>Which recent changes emerge when comparing 2001 and 2024 in Milan city?</a:t>
            </a:r>
          </a:p>
          <a:p>
            <a:pPr>
              <a:spcAft>
                <a:spcPts val="800"/>
              </a:spcAft>
            </a:pPr>
            <a:r>
              <a:rPr lang="en-US" sz="2000" b="1" dirty="0">
                <a:latin typeface="Courier New" panose="02070309020205020404" pitchFamily="49" charset="0"/>
                <a:cs typeface="Courier New" panose="02070309020205020404" pitchFamily="49" charset="0"/>
              </a:rPr>
              <a:t> changes emerge when comparing 2001 and 2024 in Milan city?</a:t>
            </a:r>
          </a:p>
        </p:txBody>
      </p:sp>
      <p:sp>
        <p:nvSpPr>
          <p:cNvPr id="4" name="CasellaDiTesto 3">
            <a:extLst>
              <a:ext uri="{FF2B5EF4-FFF2-40B4-BE49-F238E27FC236}">
                <a16:creationId xmlns:a16="http://schemas.microsoft.com/office/drawing/2014/main" id="{5E7282C6-DEF2-9C0C-A1C0-A8F87643384F}"/>
              </a:ext>
            </a:extLst>
          </p:cNvPr>
          <p:cNvSpPr txBox="1"/>
          <p:nvPr/>
        </p:nvSpPr>
        <p:spPr>
          <a:xfrm>
            <a:off x="6664743" y="1720840"/>
            <a:ext cx="5304753" cy="3416320"/>
          </a:xfrm>
          <a:prstGeom prst="rect">
            <a:avLst/>
          </a:prstGeom>
          <a:noFill/>
        </p:spPr>
        <p:txBody>
          <a:bodyPr wrap="square">
            <a:spAutoFit/>
          </a:bodyPr>
          <a:lstStyle/>
          <a:p>
            <a:r>
              <a:rPr lang="it-IT" dirty="0" err="1">
                <a:cs typeface="Arial" panose="020B0604020202020204" pitchFamily="34" charset="0"/>
              </a:rPr>
              <a:t>Between</a:t>
            </a:r>
            <a:r>
              <a:rPr lang="it-IT" dirty="0">
                <a:cs typeface="Arial" panose="020B0604020202020204" pitchFamily="34" charset="0"/>
              </a:rPr>
              <a:t> 2001 and 2024, road </a:t>
            </a:r>
            <a:r>
              <a:rPr lang="it-IT" dirty="0" err="1">
                <a:cs typeface="Arial" panose="020B0604020202020204" pitchFamily="34" charset="0"/>
              </a:rPr>
              <a:t>accidents</a:t>
            </a:r>
            <a:r>
              <a:rPr lang="it-IT" dirty="0">
                <a:cs typeface="Arial" panose="020B0604020202020204" pitchFamily="34" charset="0"/>
              </a:rPr>
              <a:t> </a:t>
            </a:r>
            <a:r>
              <a:rPr lang="it-IT" dirty="0" err="1">
                <a:cs typeface="Arial" panose="020B0604020202020204" pitchFamily="34" charset="0"/>
              </a:rPr>
              <a:t>decreased</a:t>
            </a:r>
            <a:r>
              <a:rPr lang="it-IT" dirty="0">
                <a:cs typeface="Arial" panose="020B0604020202020204" pitchFamily="34" charset="0"/>
              </a:rPr>
              <a:t> </a:t>
            </a:r>
            <a:r>
              <a:rPr lang="it-IT" dirty="0" err="1">
                <a:cs typeface="Arial" panose="020B0604020202020204" pitchFamily="34" charset="0"/>
              </a:rPr>
              <a:t>substantially</a:t>
            </a:r>
            <a:r>
              <a:rPr lang="it-IT" dirty="0">
                <a:cs typeface="Arial" panose="020B0604020202020204" pitchFamily="34" charset="0"/>
              </a:rPr>
              <a:t>.</a:t>
            </a:r>
          </a:p>
          <a:p>
            <a:br>
              <a:rPr lang="it-IT" dirty="0">
                <a:cs typeface="Arial" panose="020B0604020202020204" pitchFamily="34" charset="0"/>
              </a:rPr>
            </a:br>
            <a:r>
              <a:rPr lang="it-IT" dirty="0">
                <a:cs typeface="Arial" panose="020B0604020202020204" pitchFamily="34" charset="0"/>
              </a:rPr>
              <a:t>Accidents </a:t>
            </a:r>
            <a:r>
              <a:rPr lang="it-IT" dirty="0" err="1">
                <a:cs typeface="Arial" panose="020B0604020202020204" pitchFamily="34" charset="0"/>
              </a:rPr>
              <a:t>fell</a:t>
            </a:r>
            <a:r>
              <a:rPr lang="it-IT" dirty="0">
                <a:cs typeface="Arial" panose="020B0604020202020204" pitchFamily="34" charset="0"/>
              </a:rPr>
              <a:t> by </a:t>
            </a:r>
            <a:r>
              <a:rPr lang="it-IT" b="1" dirty="0">
                <a:cs typeface="Arial" panose="020B0604020202020204" pitchFamily="34" charset="0"/>
              </a:rPr>
              <a:t>44.4%</a:t>
            </a:r>
            <a:r>
              <a:rPr lang="it-IT" dirty="0">
                <a:cs typeface="Arial" panose="020B0604020202020204" pitchFamily="34" charset="0"/>
              </a:rPr>
              <a:t>, </a:t>
            </a:r>
            <a:r>
              <a:rPr lang="it-IT" dirty="0" err="1">
                <a:cs typeface="Arial" panose="020B0604020202020204" pitchFamily="34" charset="0"/>
              </a:rPr>
              <a:t>while</a:t>
            </a:r>
            <a:r>
              <a:rPr lang="it-IT" dirty="0">
                <a:cs typeface="Arial" panose="020B0604020202020204" pitchFamily="34" charset="0"/>
              </a:rPr>
              <a:t> </a:t>
            </a:r>
            <a:r>
              <a:rPr lang="it-IT" dirty="0" err="1">
                <a:cs typeface="Arial" panose="020B0604020202020204" pitchFamily="34" charset="0"/>
              </a:rPr>
              <a:t>injured</a:t>
            </a:r>
            <a:r>
              <a:rPr lang="it-IT" dirty="0">
                <a:cs typeface="Arial" panose="020B0604020202020204" pitchFamily="34" charset="0"/>
              </a:rPr>
              <a:t> people </a:t>
            </a:r>
            <a:r>
              <a:rPr lang="it-IT" dirty="0" err="1">
                <a:cs typeface="Arial" panose="020B0604020202020204" pitchFamily="34" charset="0"/>
              </a:rPr>
              <a:t>decreased</a:t>
            </a:r>
            <a:r>
              <a:rPr lang="it-IT" dirty="0">
                <a:cs typeface="Arial" panose="020B0604020202020204" pitchFamily="34" charset="0"/>
              </a:rPr>
              <a:t> by </a:t>
            </a:r>
            <a:r>
              <a:rPr lang="it-IT" b="1" dirty="0">
                <a:cs typeface="Arial" panose="020B0604020202020204" pitchFamily="34" charset="0"/>
              </a:rPr>
              <a:t>48.6%</a:t>
            </a:r>
            <a:r>
              <a:rPr lang="it-IT" dirty="0">
                <a:cs typeface="Arial" panose="020B0604020202020204" pitchFamily="34" charset="0"/>
              </a:rPr>
              <a:t>.</a:t>
            </a:r>
          </a:p>
          <a:p>
            <a:br>
              <a:rPr lang="it-IT" dirty="0">
                <a:cs typeface="Arial" panose="020B0604020202020204" pitchFamily="34" charset="0"/>
              </a:rPr>
            </a:br>
            <a:r>
              <a:rPr lang="it-IT" dirty="0">
                <a:cs typeface="Arial" panose="020B0604020202020204" pitchFamily="34" charset="0"/>
              </a:rPr>
              <a:t>The </a:t>
            </a:r>
            <a:r>
              <a:rPr lang="it-IT" dirty="0" err="1">
                <a:cs typeface="Arial" panose="020B0604020202020204" pitchFamily="34" charset="0"/>
              </a:rPr>
              <a:t>strongest</a:t>
            </a:r>
            <a:r>
              <a:rPr lang="it-IT" dirty="0">
                <a:cs typeface="Arial" panose="020B0604020202020204" pitchFamily="34" charset="0"/>
              </a:rPr>
              <a:t> </a:t>
            </a:r>
            <a:r>
              <a:rPr lang="it-IT" dirty="0" err="1">
                <a:cs typeface="Arial" panose="020B0604020202020204" pitchFamily="34" charset="0"/>
              </a:rPr>
              <a:t>improvement</a:t>
            </a:r>
            <a:r>
              <a:rPr lang="it-IT" dirty="0">
                <a:cs typeface="Arial" panose="020B0604020202020204" pitchFamily="34" charset="0"/>
              </a:rPr>
              <a:t> </a:t>
            </a:r>
            <a:r>
              <a:rPr lang="it-IT" dirty="0" err="1">
                <a:cs typeface="Arial" panose="020B0604020202020204" pitchFamily="34" charset="0"/>
              </a:rPr>
              <a:t>concerns</a:t>
            </a:r>
            <a:r>
              <a:rPr lang="it-IT" dirty="0">
                <a:cs typeface="Arial" panose="020B0604020202020204" pitchFamily="34" charset="0"/>
              </a:rPr>
              <a:t> fatal </a:t>
            </a:r>
            <a:r>
              <a:rPr lang="it-IT" dirty="0" err="1">
                <a:cs typeface="Arial" panose="020B0604020202020204" pitchFamily="34" charset="0"/>
              </a:rPr>
              <a:t>outcomes</a:t>
            </a:r>
            <a:r>
              <a:rPr lang="it-IT" dirty="0">
                <a:cs typeface="Arial" panose="020B0604020202020204" pitchFamily="34" charset="0"/>
              </a:rPr>
              <a:t>: </a:t>
            </a:r>
            <a:r>
              <a:rPr lang="it-IT" dirty="0" err="1">
                <a:cs typeface="Arial" panose="020B0604020202020204" pitchFamily="34" charset="0"/>
              </a:rPr>
              <a:t>deaths</a:t>
            </a:r>
            <a:r>
              <a:rPr lang="it-IT" dirty="0">
                <a:cs typeface="Arial" panose="020B0604020202020204" pitchFamily="34" charset="0"/>
              </a:rPr>
              <a:t> </a:t>
            </a:r>
            <a:r>
              <a:rPr lang="it-IT" dirty="0" err="1">
                <a:cs typeface="Arial" panose="020B0604020202020204" pitchFamily="34" charset="0"/>
              </a:rPr>
              <a:t>dropped</a:t>
            </a:r>
            <a:r>
              <a:rPr lang="it-IT" dirty="0">
                <a:cs typeface="Arial" panose="020B0604020202020204" pitchFamily="34" charset="0"/>
              </a:rPr>
              <a:t> by </a:t>
            </a:r>
            <a:r>
              <a:rPr lang="it-IT" b="1" dirty="0">
                <a:cs typeface="Arial" panose="020B0604020202020204" pitchFamily="34" charset="0"/>
              </a:rPr>
              <a:t>64.3%</a:t>
            </a:r>
            <a:r>
              <a:rPr lang="it-IT" dirty="0">
                <a:cs typeface="Arial" panose="020B0604020202020204" pitchFamily="34" charset="0"/>
              </a:rPr>
              <a:t>.</a:t>
            </a:r>
          </a:p>
          <a:p>
            <a:br>
              <a:rPr lang="it-IT" dirty="0">
                <a:cs typeface="Arial" panose="020B0604020202020204" pitchFamily="34" charset="0"/>
              </a:rPr>
            </a:br>
            <a:r>
              <a:rPr lang="it-IT" dirty="0" err="1">
                <a:cs typeface="Arial" panose="020B0604020202020204" pitchFamily="34" charset="0"/>
              </a:rPr>
              <a:t>This</a:t>
            </a:r>
            <a:r>
              <a:rPr lang="it-IT" dirty="0">
                <a:cs typeface="Arial" panose="020B0604020202020204" pitchFamily="34" charset="0"/>
              </a:rPr>
              <a:t> </a:t>
            </a:r>
            <a:r>
              <a:rPr lang="it-IT" dirty="0" err="1">
                <a:cs typeface="Arial" panose="020B0604020202020204" pitchFamily="34" charset="0"/>
              </a:rPr>
              <a:t>suggests</a:t>
            </a:r>
            <a:r>
              <a:rPr lang="it-IT" dirty="0">
                <a:cs typeface="Arial" panose="020B0604020202020204" pitchFamily="34" charset="0"/>
              </a:rPr>
              <a:t> </a:t>
            </a:r>
            <a:r>
              <a:rPr lang="it-IT" dirty="0" err="1">
                <a:cs typeface="Arial" panose="020B0604020202020204" pitchFamily="34" charset="0"/>
              </a:rPr>
              <a:t>that</a:t>
            </a:r>
            <a:r>
              <a:rPr lang="it-IT" dirty="0">
                <a:cs typeface="Arial" panose="020B0604020202020204" pitchFamily="34" charset="0"/>
              </a:rPr>
              <a:t> road </a:t>
            </a:r>
            <a:r>
              <a:rPr lang="it-IT" dirty="0" err="1">
                <a:cs typeface="Arial" panose="020B0604020202020204" pitchFamily="34" charset="0"/>
              </a:rPr>
              <a:t>safety</a:t>
            </a:r>
            <a:r>
              <a:rPr lang="it-IT" dirty="0">
                <a:cs typeface="Arial" panose="020B0604020202020204" pitchFamily="34" charset="0"/>
              </a:rPr>
              <a:t> </a:t>
            </a:r>
            <a:r>
              <a:rPr lang="it-IT" dirty="0" err="1">
                <a:cs typeface="Arial" panose="020B0604020202020204" pitchFamily="34" charset="0"/>
              </a:rPr>
              <a:t>improved</a:t>
            </a:r>
            <a:r>
              <a:rPr lang="it-IT" dirty="0">
                <a:cs typeface="Arial" panose="020B0604020202020204" pitchFamily="34" charset="0"/>
              </a:rPr>
              <a:t> </a:t>
            </a:r>
            <a:r>
              <a:rPr lang="it-IT" dirty="0" err="1">
                <a:cs typeface="Arial" panose="020B0604020202020204" pitchFamily="34" charset="0"/>
              </a:rPr>
              <a:t>not</a:t>
            </a:r>
            <a:r>
              <a:rPr lang="it-IT" dirty="0">
                <a:cs typeface="Arial" panose="020B0604020202020204" pitchFamily="34" charset="0"/>
              </a:rPr>
              <a:t> </a:t>
            </a:r>
            <a:r>
              <a:rPr lang="it-IT" dirty="0" err="1">
                <a:cs typeface="Arial" panose="020B0604020202020204" pitchFamily="34" charset="0"/>
              </a:rPr>
              <a:t>only</a:t>
            </a:r>
            <a:r>
              <a:rPr lang="it-IT" dirty="0">
                <a:cs typeface="Arial" panose="020B0604020202020204" pitchFamily="34" charset="0"/>
              </a:rPr>
              <a:t> in </a:t>
            </a:r>
            <a:r>
              <a:rPr lang="it-IT" dirty="0" err="1">
                <a:cs typeface="Arial" panose="020B0604020202020204" pitchFamily="34" charset="0"/>
              </a:rPr>
              <a:t>terms</a:t>
            </a:r>
            <a:r>
              <a:rPr lang="it-IT" dirty="0">
                <a:cs typeface="Arial" panose="020B0604020202020204" pitchFamily="34" charset="0"/>
              </a:rPr>
              <a:t> of </a:t>
            </a:r>
            <a:r>
              <a:rPr lang="it-IT" dirty="0" err="1">
                <a:cs typeface="Arial" panose="020B0604020202020204" pitchFamily="34" charset="0"/>
              </a:rPr>
              <a:t>accident</a:t>
            </a:r>
            <a:r>
              <a:rPr lang="it-IT" dirty="0">
                <a:cs typeface="Arial" panose="020B0604020202020204" pitchFamily="34" charset="0"/>
              </a:rPr>
              <a:t> frequency, </a:t>
            </a:r>
            <a:r>
              <a:rPr lang="it-IT" dirty="0" err="1">
                <a:cs typeface="Arial" panose="020B0604020202020204" pitchFamily="34" charset="0"/>
              </a:rPr>
              <a:t>but</a:t>
            </a:r>
            <a:r>
              <a:rPr lang="it-IT" dirty="0">
                <a:cs typeface="Arial" panose="020B0604020202020204" pitchFamily="34" charset="0"/>
              </a:rPr>
              <a:t> </a:t>
            </a:r>
            <a:r>
              <a:rPr lang="it-IT" dirty="0" err="1">
                <a:cs typeface="Arial" panose="020B0604020202020204" pitchFamily="34" charset="0"/>
              </a:rPr>
              <a:t>also</a:t>
            </a:r>
            <a:r>
              <a:rPr lang="it-IT" dirty="0">
                <a:cs typeface="Arial" panose="020B0604020202020204" pitchFamily="34" charset="0"/>
              </a:rPr>
              <a:t> in </a:t>
            </a:r>
            <a:r>
              <a:rPr lang="it-IT" dirty="0" err="1">
                <a:cs typeface="Arial" panose="020B0604020202020204" pitchFamily="34" charset="0"/>
              </a:rPr>
              <a:t>terms</a:t>
            </a:r>
            <a:r>
              <a:rPr lang="it-IT" dirty="0">
                <a:cs typeface="Arial" panose="020B0604020202020204" pitchFamily="34" charset="0"/>
              </a:rPr>
              <a:t> of </a:t>
            </a:r>
            <a:r>
              <a:rPr lang="it-IT" dirty="0" err="1">
                <a:cs typeface="Arial" panose="020B0604020202020204" pitchFamily="34" charset="0"/>
              </a:rPr>
              <a:t>accident</a:t>
            </a:r>
            <a:r>
              <a:rPr lang="it-IT" dirty="0">
                <a:cs typeface="Arial" panose="020B0604020202020204" pitchFamily="34" charset="0"/>
              </a:rPr>
              <a:t> </a:t>
            </a:r>
            <a:r>
              <a:rPr lang="it-IT" dirty="0" err="1">
                <a:cs typeface="Arial" panose="020B0604020202020204" pitchFamily="34" charset="0"/>
              </a:rPr>
              <a:t>severity</a:t>
            </a:r>
            <a:r>
              <a:rPr lang="it-IT" dirty="0">
                <a:cs typeface="Arial" panose="020B06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p:cNvSpPr txBox="1"/>
          <p:nvPr/>
        </p:nvSpPr>
        <p:spPr>
          <a:xfrm>
            <a:off x="594360" y="417940"/>
            <a:ext cx="9963661" cy="1815882"/>
          </a:xfrm>
          <a:prstGeom prst="rect">
            <a:avLst/>
          </a:prstGeom>
          <a:noFill/>
        </p:spPr>
        <p:txBody>
          <a:bodyPr wrap="square">
            <a:spAutoFit/>
          </a:bodyPr>
          <a:lstStyle/>
          <a:p>
            <a:r>
              <a:rPr lang="en-US" sz="2800" b="1" i="0" dirty="0">
                <a:solidFill>
                  <a:srgbClr val="111111"/>
                </a:solidFill>
                <a:latin typeface="Courier New"/>
              </a:rPr>
              <a:t>Do incidents, injured people and deaths move in the same direction, or do they tell different stories?</a:t>
            </a:r>
          </a:p>
          <a:p>
            <a:endParaRPr lang="it-IT" sz="2800" b="1" i="0" dirty="0">
              <a:solidFill>
                <a:srgbClr val="111111"/>
              </a:solidFill>
              <a:latin typeface="Courier New"/>
            </a:endParaRPr>
          </a:p>
        </p:txBody>
      </p:sp>
      <p:sp>
        <p:nvSpPr>
          <p:cNvPr id="8" name="TextBox 7"/>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pic>
        <p:nvPicPr>
          <p:cNvPr id="3074" name="Picture 2">
            <a:extLst>
              <a:ext uri="{FF2B5EF4-FFF2-40B4-BE49-F238E27FC236}">
                <a16:creationId xmlns:a16="http://schemas.microsoft.com/office/drawing/2014/main" id="{9D4AB75F-376E-3482-95C6-1EBF584BF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998" y="2233822"/>
            <a:ext cx="6089237" cy="3026664"/>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a:extLst>
              <a:ext uri="{FF2B5EF4-FFF2-40B4-BE49-F238E27FC236}">
                <a16:creationId xmlns:a16="http://schemas.microsoft.com/office/drawing/2014/main" id="{19B872B7-8A0D-4ABC-161E-0BE3ABE8FBE3}"/>
              </a:ext>
            </a:extLst>
          </p:cNvPr>
          <p:cNvSpPr txBox="1"/>
          <p:nvPr/>
        </p:nvSpPr>
        <p:spPr>
          <a:xfrm>
            <a:off x="6976873" y="1936499"/>
            <a:ext cx="5285232" cy="3539430"/>
          </a:xfrm>
          <a:prstGeom prst="rect">
            <a:avLst/>
          </a:prstGeom>
          <a:noFill/>
        </p:spPr>
        <p:txBody>
          <a:bodyPr wrap="square" rtlCol="0">
            <a:spAutoFit/>
          </a:bodyPr>
          <a:lstStyle/>
          <a:p>
            <a:r>
              <a:rPr lang="it-IT" sz="1400" dirty="0" err="1"/>
              <a:t>This</a:t>
            </a:r>
            <a:r>
              <a:rPr lang="it-IT" sz="1400" dirty="0"/>
              <a:t> chart shows </a:t>
            </a:r>
            <a:r>
              <a:rPr lang="it-IT" sz="1400" dirty="0" err="1"/>
              <a:t>that</a:t>
            </a:r>
            <a:r>
              <a:rPr lang="it-IT" sz="1400" dirty="0"/>
              <a:t> </a:t>
            </a:r>
            <a:r>
              <a:rPr lang="it-IT" sz="1400" dirty="0" err="1"/>
              <a:t>accidents</a:t>
            </a:r>
            <a:r>
              <a:rPr lang="it-IT" sz="1400" dirty="0"/>
              <a:t>, </a:t>
            </a:r>
            <a:r>
              <a:rPr lang="it-IT" sz="1400" dirty="0" err="1"/>
              <a:t>injured</a:t>
            </a:r>
            <a:r>
              <a:rPr lang="it-IT" sz="1400" dirty="0"/>
              <a:t> people and </a:t>
            </a:r>
            <a:r>
              <a:rPr lang="it-IT" sz="1400" dirty="0" err="1"/>
              <a:t>deaths</a:t>
            </a:r>
            <a:r>
              <a:rPr lang="it-IT" sz="1400" dirty="0"/>
              <a:t> follow the </a:t>
            </a:r>
            <a:r>
              <a:rPr lang="it-IT" sz="1400" dirty="0" err="1"/>
              <a:t>same</a:t>
            </a:r>
            <a:r>
              <a:rPr lang="it-IT" sz="1400" dirty="0"/>
              <a:t> general </a:t>
            </a:r>
            <a:r>
              <a:rPr lang="it-IT" sz="1400" dirty="0" err="1"/>
              <a:t>downward</a:t>
            </a:r>
            <a:r>
              <a:rPr lang="it-IT" sz="1400" dirty="0"/>
              <a:t> trend over time, </a:t>
            </a:r>
            <a:r>
              <a:rPr lang="it-IT" sz="1400" dirty="0" err="1"/>
              <a:t>but</a:t>
            </a:r>
            <a:r>
              <a:rPr lang="it-IT" sz="1400" dirty="0"/>
              <a:t> </a:t>
            </a:r>
            <a:r>
              <a:rPr lang="it-IT" sz="1400" dirty="0" err="1"/>
              <a:t>they</a:t>
            </a:r>
            <a:r>
              <a:rPr lang="it-IT" sz="1400" dirty="0"/>
              <a:t> do </a:t>
            </a:r>
            <a:r>
              <a:rPr lang="it-IT" sz="1400" dirty="0" err="1"/>
              <a:t>not</a:t>
            </a:r>
            <a:r>
              <a:rPr lang="it-IT" sz="1400" dirty="0"/>
              <a:t> </a:t>
            </a:r>
            <a:r>
              <a:rPr lang="it-IT" sz="1400" dirty="0" err="1"/>
              <a:t>decrease</a:t>
            </a:r>
            <a:r>
              <a:rPr lang="it-IT" sz="1400" dirty="0"/>
              <a:t> with the </a:t>
            </a:r>
            <a:r>
              <a:rPr lang="it-IT" sz="1400" dirty="0" err="1"/>
              <a:t>same</a:t>
            </a:r>
            <a:r>
              <a:rPr lang="it-IT" sz="1400" dirty="0"/>
              <a:t> </a:t>
            </a:r>
            <a:r>
              <a:rPr lang="it-IT" sz="1400" dirty="0" err="1"/>
              <a:t>intensity</a:t>
            </a:r>
            <a:r>
              <a:rPr lang="it-IT" sz="1400" dirty="0"/>
              <a:t>. </a:t>
            </a:r>
          </a:p>
          <a:p>
            <a:endParaRPr lang="it-IT" sz="1400" dirty="0"/>
          </a:p>
          <a:p>
            <a:r>
              <a:rPr lang="it-IT" sz="1400" dirty="0"/>
              <a:t>Accidents and </a:t>
            </a:r>
            <a:r>
              <a:rPr lang="it-IT" sz="1400" dirty="0" err="1"/>
              <a:t>injured</a:t>
            </a:r>
            <a:r>
              <a:rPr lang="it-IT" sz="1400" dirty="0"/>
              <a:t> people </a:t>
            </a:r>
            <a:r>
              <a:rPr lang="it-IT" sz="1400" dirty="0" err="1"/>
              <a:t>decline</a:t>
            </a:r>
            <a:r>
              <a:rPr lang="it-IT" sz="1400" dirty="0"/>
              <a:t> more </a:t>
            </a:r>
            <a:r>
              <a:rPr lang="it-IT" sz="1400" dirty="0" err="1"/>
              <a:t>gradually</a:t>
            </a:r>
            <a:r>
              <a:rPr lang="it-IT" sz="1400" dirty="0"/>
              <a:t>, </a:t>
            </a:r>
            <a:r>
              <a:rPr lang="it-IT" sz="1400" dirty="0" err="1"/>
              <a:t>while</a:t>
            </a:r>
            <a:r>
              <a:rPr lang="it-IT" sz="1400" dirty="0"/>
              <a:t> </a:t>
            </a:r>
            <a:r>
              <a:rPr lang="it-IT" sz="1400" dirty="0" err="1"/>
              <a:t>deaths</a:t>
            </a:r>
            <a:r>
              <a:rPr lang="it-IT" sz="1400" dirty="0"/>
              <a:t> </a:t>
            </a:r>
            <a:r>
              <a:rPr lang="it-IT" sz="1400" dirty="0" err="1"/>
              <a:t>fall</a:t>
            </a:r>
            <a:r>
              <a:rPr lang="it-IT" sz="1400" dirty="0"/>
              <a:t> </a:t>
            </a:r>
            <a:r>
              <a:rPr lang="it-IT" sz="1400" dirty="0" err="1"/>
              <a:t>much</a:t>
            </a:r>
            <a:r>
              <a:rPr lang="it-IT" sz="1400" dirty="0"/>
              <a:t> more </a:t>
            </a:r>
            <a:r>
              <a:rPr lang="it-IT" sz="1400" dirty="0" err="1"/>
              <a:t>sharply</a:t>
            </a:r>
            <a:r>
              <a:rPr lang="it-IT" sz="1400" dirty="0"/>
              <a:t>, </a:t>
            </a:r>
            <a:r>
              <a:rPr lang="it-IT" sz="1400" dirty="0" err="1"/>
              <a:t>suggesting</a:t>
            </a:r>
            <a:r>
              <a:rPr lang="it-IT" sz="1400" dirty="0"/>
              <a:t> </a:t>
            </a:r>
            <a:r>
              <a:rPr lang="it-IT" sz="1400" dirty="0" err="1"/>
              <a:t>that</a:t>
            </a:r>
            <a:r>
              <a:rPr lang="it-IT" sz="1400" dirty="0"/>
              <a:t> the </a:t>
            </a:r>
            <a:r>
              <a:rPr lang="it-IT" sz="1400" dirty="0" err="1"/>
              <a:t>strongest</a:t>
            </a:r>
            <a:r>
              <a:rPr lang="it-IT" sz="1400" dirty="0"/>
              <a:t> </a:t>
            </a:r>
            <a:r>
              <a:rPr lang="it-IT" sz="1400" dirty="0" err="1"/>
              <a:t>improvement</a:t>
            </a:r>
            <a:r>
              <a:rPr lang="it-IT" sz="1400" dirty="0"/>
              <a:t> </a:t>
            </a:r>
            <a:r>
              <a:rPr lang="it-IT" sz="1400" dirty="0" err="1"/>
              <a:t>concerns</a:t>
            </a:r>
            <a:r>
              <a:rPr lang="it-IT" sz="1400" dirty="0"/>
              <a:t> fatal </a:t>
            </a:r>
            <a:r>
              <a:rPr lang="it-IT" sz="1400" dirty="0" err="1"/>
              <a:t>outcomes</a:t>
            </a:r>
            <a:r>
              <a:rPr lang="it-IT" sz="1400" dirty="0"/>
              <a:t>.</a:t>
            </a:r>
          </a:p>
          <a:p>
            <a:endParaRPr lang="it-IT" sz="1400" dirty="0"/>
          </a:p>
          <a:p>
            <a:r>
              <a:rPr lang="it-IT" sz="1400" dirty="0"/>
              <a:t> A </a:t>
            </a:r>
            <a:r>
              <a:rPr lang="it-IT" sz="1400" dirty="0" err="1"/>
              <a:t>particularly</a:t>
            </a:r>
            <a:r>
              <a:rPr lang="it-IT" sz="1400" dirty="0"/>
              <a:t> </a:t>
            </a:r>
            <a:r>
              <a:rPr lang="it-IT" sz="1400" dirty="0" err="1"/>
              <a:t>sharp</a:t>
            </a:r>
            <a:r>
              <a:rPr lang="it-IT" sz="1400" dirty="0"/>
              <a:t> drop </a:t>
            </a:r>
            <a:r>
              <a:rPr lang="it-IT" sz="1400" dirty="0" err="1"/>
              <a:t>is</a:t>
            </a:r>
            <a:r>
              <a:rPr lang="it-IT" sz="1400" dirty="0"/>
              <a:t> </a:t>
            </a:r>
            <a:r>
              <a:rPr lang="it-IT" sz="1400" dirty="0" err="1"/>
              <a:t>visible</a:t>
            </a:r>
            <a:r>
              <a:rPr lang="it-IT" sz="1400" dirty="0"/>
              <a:t> </a:t>
            </a:r>
            <a:r>
              <a:rPr lang="it-IT" sz="1400" dirty="0" err="1"/>
              <a:t>around</a:t>
            </a:r>
            <a:r>
              <a:rPr lang="it-IT" sz="1400" dirty="0"/>
              <a:t> 2020, </a:t>
            </a:r>
            <a:r>
              <a:rPr lang="it-IT" sz="1400" dirty="0" err="1"/>
              <a:t>during</a:t>
            </a:r>
            <a:r>
              <a:rPr lang="it-IT" sz="1400" dirty="0"/>
              <a:t> the Covid-19 </a:t>
            </a:r>
            <a:r>
              <a:rPr lang="it-IT" sz="1400" dirty="0" err="1"/>
              <a:t>period</a:t>
            </a:r>
            <a:r>
              <a:rPr lang="it-IT" sz="1400" dirty="0"/>
              <a:t>: </a:t>
            </a:r>
            <a:r>
              <a:rPr lang="it-IT" sz="1400" dirty="0" err="1"/>
              <a:t>this</a:t>
            </a:r>
            <a:r>
              <a:rPr lang="it-IT" sz="1400" dirty="0"/>
              <a:t> </a:t>
            </a:r>
            <a:r>
              <a:rPr lang="it-IT" sz="1400" dirty="0" err="1"/>
              <a:t>should</a:t>
            </a:r>
            <a:r>
              <a:rPr lang="it-IT" sz="1400" dirty="0"/>
              <a:t> be </a:t>
            </a:r>
            <a:r>
              <a:rPr lang="it-IT" sz="1400" dirty="0" err="1"/>
              <a:t>interpreted</a:t>
            </a:r>
            <a:r>
              <a:rPr lang="it-IT" sz="1400" dirty="0"/>
              <a:t> </a:t>
            </a:r>
            <a:r>
              <a:rPr lang="it-IT" sz="1400" dirty="0" err="1"/>
              <a:t>carefully</a:t>
            </a:r>
            <a:r>
              <a:rPr lang="it-IT" sz="1400" dirty="0"/>
              <a:t>, </a:t>
            </a:r>
            <a:r>
              <a:rPr lang="it-IT" sz="1400" dirty="0" err="1"/>
              <a:t>because</a:t>
            </a:r>
            <a:r>
              <a:rPr lang="it-IT" sz="1400" dirty="0"/>
              <a:t> </a:t>
            </a:r>
            <a:r>
              <a:rPr lang="it-IT" sz="1400" dirty="0" err="1"/>
              <a:t>it</a:t>
            </a:r>
            <a:r>
              <a:rPr lang="it-IT" sz="1400" dirty="0"/>
              <a:t> </a:t>
            </a:r>
            <a:r>
              <a:rPr lang="it-IT" sz="1400" dirty="0" err="1"/>
              <a:t>was</a:t>
            </a:r>
            <a:r>
              <a:rPr lang="it-IT" sz="1400" dirty="0"/>
              <a:t> </a:t>
            </a:r>
            <a:r>
              <a:rPr lang="it-IT" sz="1400" dirty="0" err="1"/>
              <a:t>likely</a:t>
            </a:r>
            <a:r>
              <a:rPr lang="it-IT" sz="1400" dirty="0"/>
              <a:t> </a:t>
            </a:r>
            <a:r>
              <a:rPr lang="it-IT" sz="1400" dirty="0" err="1"/>
              <a:t>influenced</a:t>
            </a:r>
            <a:r>
              <a:rPr lang="it-IT" sz="1400" dirty="0"/>
              <a:t> by </a:t>
            </a:r>
            <a:r>
              <a:rPr lang="it-IT" sz="1400" dirty="0" err="1"/>
              <a:t>mobility</a:t>
            </a:r>
            <a:r>
              <a:rPr lang="it-IT" sz="1400" dirty="0"/>
              <a:t> </a:t>
            </a:r>
            <a:r>
              <a:rPr lang="it-IT" sz="1400" dirty="0" err="1"/>
              <a:t>restrictions</a:t>
            </a:r>
            <a:r>
              <a:rPr lang="it-IT" sz="1400" dirty="0"/>
              <a:t> and </a:t>
            </a:r>
            <a:r>
              <a:rPr lang="it-IT" sz="1400" dirty="0" err="1"/>
              <a:t>reduced</a:t>
            </a:r>
            <a:r>
              <a:rPr lang="it-IT" sz="1400" dirty="0"/>
              <a:t> </a:t>
            </a:r>
            <a:r>
              <a:rPr lang="it-IT" sz="1400" dirty="0" err="1"/>
              <a:t>traffic</a:t>
            </a:r>
            <a:r>
              <a:rPr lang="it-IT" sz="1400" dirty="0"/>
              <a:t> </a:t>
            </a:r>
            <a:r>
              <a:rPr lang="it-IT" sz="1400" dirty="0" err="1"/>
              <a:t>volumes</a:t>
            </a:r>
            <a:r>
              <a:rPr lang="it-IT" sz="1400" dirty="0"/>
              <a:t> </a:t>
            </a:r>
            <a:r>
              <a:rPr lang="it-IT" sz="1400" dirty="0" err="1"/>
              <a:t>rather</a:t>
            </a:r>
            <a:r>
              <a:rPr lang="it-IT" sz="1400" dirty="0"/>
              <a:t> </a:t>
            </a:r>
            <a:r>
              <a:rPr lang="it-IT" sz="1400" dirty="0" err="1"/>
              <a:t>than</a:t>
            </a:r>
            <a:r>
              <a:rPr lang="it-IT" sz="1400" dirty="0"/>
              <a:t> by a </a:t>
            </a:r>
            <a:r>
              <a:rPr lang="it-IT" sz="1400" dirty="0" err="1"/>
              <a:t>permanent</a:t>
            </a:r>
            <a:r>
              <a:rPr lang="it-IT" sz="1400" dirty="0"/>
              <a:t> </a:t>
            </a:r>
            <a:r>
              <a:rPr lang="it-IT" sz="1400" dirty="0" err="1"/>
              <a:t>structural</a:t>
            </a:r>
            <a:r>
              <a:rPr lang="it-IT" sz="1400" dirty="0"/>
              <a:t> </a:t>
            </a:r>
            <a:r>
              <a:rPr lang="it-IT" sz="1400" dirty="0" err="1"/>
              <a:t>improvement</a:t>
            </a:r>
            <a:r>
              <a:rPr lang="it-IT" sz="1400" dirty="0"/>
              <a:t> in road </a:t>
            </a:r>
            <a:r>
              <a:rPr lang="it-IT" sz="1400" dirty="0" err="1"/>
              <a:t>safety</a:t>
            </a:r>
            <a:r>
              <a:rPr lang="it-IT" sz="1400" dirty="0"/>
              <a:t>. </a:t>
            </a:r>
          </a:p>
          <a:p>
            <a:endParaRPr lang="it-IT" sz="1400" dirty="0"/>
          </a:p>
          <a:p>
            <a:r>
              <a:rPr lang="it-IT" sz="1400" dirty="0"/>
              <a:t>After 2020, the </a:t>
            </a:r>
            <a:r>
              <a:rPr lang="it-IT" sz="1400" dirty="0" err="1"/>
              <a:t>indicators</a:t>
            </a:r>
            <a:r>
              <a:rPr lang="it-IT" sz="1400" dirty="0"/>
              <a:t> </a:t>
            </a:r>
            <a:r>
              <a:rPr lang="it-IT" sz="1400" dirty="0" err="1"/>
              <a:t>partially</a:t>
            </a:r>
            <a:r>
              <a:rPr lang="it-IT" sz="1400" dirty="0"/>
              <a:t> rise </a:t>
            </a:r>
            <a:r>
              <a:rPr lang="it-IT" sz="1400" dirty="0" err="1"/>
              <a:t>again</a:t>
            </a:r>
            <a:r>
              <a:rPr lang="it-IT" sz="1400" dirty="0"/>
              <a:t>, </a:t>
            </a:r>
            <a:r>
              <a:rPr lang="it-IT" sz="1400" dirty="0" err="1"/>
              <a:t>showing</a:t>
            </a:r>
            <a:r>
              <a:rPr lang="it-IT" sz="1400" dirty="0"/>
              <a:t> </a:t>
            </a:r>
            <a:r>
              <a:rPr lang="it-IT" sz="1400" dirty="0" err="1"/>
              <a:t>that</a:t>
            </a:r>
            <a:r>
              <a:rPr lang="it-IT" sz="1400" dirty="0"/>
              <a:t> the </a:t>
            </a:r>
            <a:r>
              <a:rPr lang="it-IT" sz="1400" dirty="0" err="1"/>
              <a:t>issue</a:t>
            </a:r>
            <a:r>
              <a:rPr lang="it-IT" sz="1400" dirty="0"/>
              <a:t> </a:t>
            </a:r>
            <a:r>
              <a:rPr lang="it-IT" sz="1400" dirty="0" err="1"/>
              <a:t>remains</a:t>
            </a:r>
            <a:r>
              <a:rPr lang="it-IT" sz="1400" dirty="0"/>
              <a:t> </a:t>
            </a:r>
            <a:r>
              <a:rPr lang="it-IT" sz="1400" dirty="0" err="1"/>
              <a:t>relevant</a:t>
            </a:r>
            <a:r>
              <a:rPr lang="it-IT" sz="1400" dirty="0"/>
              <a:t> </a:t>
            </a:r>
            <a:r>
              <a:rPr lang="it-IT" sz="1400" dirty="0" err="1"/>
              <a:t>even</a:t>
            </a:r>
            <a:r>
              <a:rPr lang="it-IT" sz="1400" dirty="0"/>
              <a:t> after the long-</a:t>
            </a:r>
            <a:r>
              <a:rPr lang="it-IT" sz="1400" dirty="0" err="1"/>
              <a:t>term</a:t>
            </a:r>
            <a:r>
              <a:rPr lang="it-IT" sz="1400" dirty="0"/>
              <a:t> </a:t>
            </a:r>
            <a:r>
              <a:rPr lang="it-IT" sz="1400" dirty="0" err="1"/>
              <a:t>decline</a:t>
            </a:r>
            <a:r>
              <a:rPr lang="it-IT" sz="14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p:cNvSpPr txBox="1"/>
          <p:nvPr/>
        </p:nvSpPr>
        <p:spPr>
          <a:xfrm>
            <a:off x="716280" y="280332"/>
            <a:ext cx="9850539" cy="954107"/>
          </a:xfrm>
          <a:prstGeom prst="rect">
            <a:avLst/>
          </a:prstGeom>
          <a:noFill/>
        </p:spPr>
        <p:txBody>
          <a:bodyPr wrap="square">
            <a:spAutoFit/>
          </a:bodyPr>
          <a:lstStyle/>
          <a:p>
            <a:r>
              <a:rPr lang="en-US" sz="2800" b="1" i="0">
                <a:solidFill>
                  <a:srgbClr val="111111"/>
                </a:solidFill>
                <a:latin typeface="Courier New"/>
              </a:rPr>
              <a:t>Which Milan municipalities show the highest road accident risk in 2024?</a:t>
            </a:r>
            <a:endParaRPr lang="en-US" sz="2800" b="1" i="0" dirty="0">
              <a:solidFill>
                <a:srgbClr val="111111"/>
              </a:solidFill>
              <a:latin typeface="Courier New"/>
            </a:endParaRPr>
          </a:p>
        </p:txBody>
      </p:sp>
      <p:sp>
        <p:nvSpPr>
          <p:cNvPr id="8" name="TextBox 7"/>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pic>
        <p:nvPicPr>
          <p:cNvPr id="4098" name="Picture 2">
            <a:extLst>
              <a:ext uri="{FF2B5EF4-FFF2-40B4-BE49-F238E27FC236}">
                <a16:creationId xmlns:a16="http://schemas.microsoft.com/office/drawing/2014/main" id="{7693CAA4-CD74-D10A-81ED-68354281E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1" y="1613669"/>
            <a:ext cx="6345936" cy="3832143"/>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29FB5A81-5921-6A0D-9486-4EE0FE6A6971}"/>
              </a:ext>
            </a:extLst>
          </p:cNvPr>
          <p:cNvSpPr txBox="1"/>
          <p:nvPr/>
        </p:nvSpPr>
        <p:spPr>
          <a:xfrm>
            <a:off x="7269480" y="1613669"/>
            <a:ext cx="4328159" cy="4185761"/>
          </a:xfrm>
          <a:prstGeom prst="rect">
            <a:avLst/>
          </a:prstGeom>
          <a:noFill/>
        </p:spPr>
        <p:txBody>
          <a:bodyPr wrap="square" rtlCol="0">
            <a:spAutoFit/>
          </a:bodyPr>
          <a:lstStyle/>
          <a:p>
            <a:r>
              <a:rPr lang="it-IT" sz="1400" dirty="0" err="1">
                <a:latin typeface="Arial" panose="020B0604020202020204" pitchFamily="34" charset="0"/>
                <a:cs typeface="Arial" panose="020B0604020202020204" pitchFamily="34" charset="0"/>
              </a:rPr>
              <a:t>This</a:t>
            </a:r>
            <a:r>
              <a:rPr lang="it-IT" sz="1400" dirty="0">
                <a:latin typeface="Arial" panose="020B0604020202020204" pitchFamily="34" charset="0"/>
                <a:cs typeface="Arial" panose="020B0604020202020204" pitchFamily="34" charset="0"/>
              </a:rPr>
              <a:t> chart shows the ranking of Milan </a:t>
            </a:r>
            <a:r>
              <a:rPr lang="it-IT" sz="1400" dirty="0" err="1">
                <a:latin typeface="Arial" panose="020B0604020202020204" pitchFamily="34" charset="0"/>
                <a:cs typeface="Arial" panose="020B0604020202020204" pitchFamily="34" charset="0"/>
              </a:rPr>
              <a:t>municipalities</a:t>
            </a:r>
            <a:r>
              <a:rPr lang="it-IT" sz="1400" dirty="0">
                <a:latin typeface="Arial" panose="020B0604020202020204" pitchFamily="34" charset="0"/>
                <a:cs typeface="Arial" panose="020B0604020202020204" pitchFamily="34" charset="0"/>
              </a:rPr>
              <a:t> by </a:t>
            </a:r>
            <a:r>
              <a:rPr lang="it-IT" sz="1400" dirty="0" err="1">
                <a:latin typeface="Arial" panose="020B0604020202020204" pitchFamily="34" charset="0"/>
                <a:cs typeface="Arial" panose="020B0604020202020204" pitchFamily="34" charset="0"/>
              </a:rPr>
              <a:t>accidents</a:t>
            </a:r>
            <a:r>
              <a:rPr lang="it-IT" sz="1400" dirty="0">
                <a:latin typeface="Arial" panose="020B0604020202020204" pitchFamily="34" charset="0"/>
                <a:cs typeface="Arial" panose="020B0604020202020204" pitchFamily="34" charset="0"/>
              </a:rPr>
              <a:t> per 10,000 </a:t>
            </a:r>
            <a:r>
              <a:rPr lang="it-IT" sz="1400" dirty="0" err="1">
                <a:latin typeface="Arial" panose="020B0604020202020204" pitchFamily="34" charset="0"/>
                <a:cs typeface="Arial" panose="020B0604020202020204" pitchFamily="34" charset="0"/>
              </a:rPr>
              <a:t>residents</a:t>
            </a:r>
            <a:r>
              <a:rPr lang="it-IT" sz="1400" dirty="0">
                <a:latin typeface="Arial" panose="020B0604020202020204" pitchFamily="34" charset="0"/>
                <a:cs typeface="Arial" panose="020B0604020202020204" pitchFamily="34" charset="0"/>
              </a:rPr>
              <a:t> in 2024. </a:t>
            </a:r>
          </a:p>
          <a:p>
            <a:endParaRPr lang="it-IT" sz="1400" dirty="0">
              <a:latin typeface="Arial" panose="020B0604020202020204" pitchFamily="34" charset="0"/>
              <a:cs typeface="Arial" panose="020B0604020202020204" pitchFamily="34" charset="0"/>
            </a:endParaRPr>
          </a:p>
          <a:p>
            <a:r>
              <a:rPr lang="it-IT" sz="1400" dirty="0">
                <a:latin typeface="Arial" panose="020B0604020202020204" pitchFamily="34" charset="0"/>
                <a:cs typeface="Arial" panose="020B0604020202020204" pitchFamily="34" charset="0"/>
              </a:rPr>
              <a:t>The </a:t>
            </a:r>
            <a:r>
              <a:rPr lang="it-IT" sz="1400" dirty="0" err="1">
                <a:latin typeface="Arial" panose="020B0604020202020204" pitchFamily="34" charset="0"/>
                <a:cs typeface="Arial" panose="020B0604020202020204" pitchFamily="34" charset="0"/>
              </a:rPr>
              <a:t>indicator</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is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normalized</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meaning</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that</a:t>
            </a:r>
            <a:r>
              <a:rPr lang="it-IT" sz="1400" dirty="0">
                <a:latin typeface="Arial" panose="020B0604020202020204" pitchFamily="34" charset="0"/>
                <a:cs typeface="Arial" panose="020B0604020202020204" pitchFamily="34" charset="0"/>
              </a:rPr>
              <a:t> the </a:t>
            </a:r>
            <a:r>
              <a:rPr lang="it-IT" sz="1400" dirty="0" err="1">
                <a:latin typeface="Arial" panose="020B0604020202020204" pitchFamily="34" charset="0"/>
                <a:cs typeface="Arial" panose="020B0604020202020204" pitchFamily="34" charset="0"/>
              </a:rPr>
              <a:t>number</a:t>
            </a:r>
            <a:r>
              <a:rPr lang="it-IT" sz="1400" dirty="0">
                <a:latin typeface="Arial" panose="020B0604020202020204" pitchFamily="34" charset="0"/>
                <a:cs typeface="Arial" panose="020B0604020202020204" pitchFamily="34" charset="0"/>
              </a:rPr>
              <a:t> of </a:t>
            </a:r>
            <a:r>
              <a:rPr lang="it-IT" sz="1400" dirty="0" err="1">
                <a:latin typeface="Arial" panose="020B0604020202020204" pitchFamily="34" charset="0"/>
                <a:cs typeface="Arial" panose="020B0604020202020204" pitchFamily="34" charset="0"/>
              </a:rPr>
              <a:t>accidents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is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divided</a:t>
            </a:r>
            <a:r>
              <a:rPr lang="it-IT" sz="1400" dirty="0">
                <a:latin typeface="Arial" panose="020B0604020202020204" pitchFamily="34" charset="0"/>
                <a:cs typeface="Arial" panose="020B0604020202020204" pitchFamily="34" charset="0"/>
              </a:rPr>
              <a:t> by the </a:t>
            </a:r>
            <a:r>
              <a:rPr lang="it-IT" sz="1400" dirty="0" err="1">
                <a:latin typeface="Arial" panose="020B0604020202020204" pitchFamily="34" charset="0"/>
                <a:cs typeface="Arial" panose="020B0604020202020204" pitchFamily="34" charset="0"/>
              </a:rPr>
              <a:t>resident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population</a:t>
            </a:r>
            <a:r>
              <a:rPr lang="it-IT" sz="1400" dirty="0">
                <a:latin typeface="Arial" panose="020B0604020202020204" pitchFamily="34" charset="0"/>
                <a:cs typeface="Arial" panose="020B0604020202020204" pitchFamily="34" charset="0"/>
              </a:rPr>
              <a:t> and </a:t>
            </a:r>
            <a:r>
              <a:rPr lang="it-IT" sz="1400" dirty="0" err="1">
                <a:latin typeface="Arial" panose="020B0604020202020204" pitchFamily="34" charset="0"/>
                <a:cs typeface="Arial" panose="020B0604020202020204" pitchFamily="34" charset="0"/>
              </a:rPr>
              <a:t>then</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multiplied</a:t>
            </a:r>
            <a:r>
              <a:rPr lang="it-IT" sz="1400" dirty="0">
                <a:latin typeface="Arial" panose="020B0604020202020204" pitchFamily="34" charset="0"/>
                <a:cs typeface="Arial" panose="020B0604020202020204" pitchFamily="34" charset="0"/>
              </a:rPr>
              <a:t> by 10,000. </a:t>
            </a:r>
            <a:r>
              <a:rPr lang="it-IT" sz="1400" dirty="0" err="1">
                <a:latin typeface="Arial" panose="020B0604020202020204" pitchFamily="34" charset="0"/>
                <a:cs typeface="Arial" panose="020B0604020202020204" pitchFamily="34" charset="0"/>
              </a:rPr>
              <a:t>This</a:t>
            </a:r>
            <a:r>
              <a:rPr lang="it-IT" sz="1400" dirty="0">
                <a:latin typeface="Arial" panose="020B0604020202020204" pitchFamily="34" charset="0"/>
                <a:cs typeface="Arial" panose="020B0604020202020204" pitchFamily="34" charset="0"/>
              </a:rPr>
              <a:t> makes </a:t>
            </a:r>
            <a:r>
              <a:rPr lang="it-IT" sz="1400" dirty="0" err="1">
                <a:latin typeface="Arial" panose="020B0604020202020204" pitchFamily="34" charset="0"/>
                <a:cs typeface="Arial" panose="020B0604020202020204" pitchFamily="34" charset="0"/>
              </a:rPr>
              <a:t>municipalities</a:t>
            </a:r>
            <a:r>
              <a:rPr lang="it-IT" sz="1400" dirty="0">
                <a:latin typeface="Arial" panose="020B0604020202020204" pitchFamily="34" charset="0"/>
                <a:cs typeface="Arial" panose="020B0604020202020204" pitchFamily="34" charset="0"/>
              </a:rPr>
              <a:t> more comparable, </a:t>
            </a:r>
            <a:r>
              <a:rPr lang="it-IT" sz="1400" dirty="0" err="1">
                <a:latin typeface="Arial" panose="020B0604020202020204" pitchFamily="34" charset="0"/>
                <a:cs typeface="Arial" panose="020B0604020202020204" pitchFamily="34" charset="0"/>
              </a:rPr>
              <a:t>because</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areas</a:t>
            </a:r>
            <a:r>
              <a:rPr lang="it-IT" sz="1400" dirty="0">
                <a:latin typeface="Arial" panose="020B0604020202020204" pitchFamily="34" charset="0"/>
                <a:cs typeface="Arial" panose="020B0604020202020204" pitchFamily="34" charset="0"/>
              </a:rPr>
              <a:t> with </a:t>
            </a:r>
            <a:r>
              <a:rPr lang="it-IT" sz="1400" dirty="0" err="1">
                <a:latin typeface="Arial" panose="020B0604020202020204" pitchFamily="34" charset="0"/>
                <a:cs typeface="Arial" panose="020B0604020202020204" pitchFamily="34" charset="0"/>
              </a:rPr>
              <a:t>different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population</a:t>
            </a:r>
            <a:r>
              <a:rPr lang="it-IT" sz="1400" dirty="0">
                <a:latin typeface="Arial" panose="020B0604020202020204" pitchFamily="34" charset="0"/>
                <a:cs typeface="Arial" panose="020B0604020202020204" pitchFamily="34" charset="0"/>
              </a:rPr>
              <a:t> sizes can be </a:t>
            </a:r>
            <a:r>
              <a:rPr lang="it-IT" sz="1400" dirty="0" err="1">
                <a:latin typeface="Arial" panose="020B0604020202020204" pitchFamily="34" charset="0"/>
                <a:cs typeface="Arial" panose="020B0604020202020204" pitchFamily="34" charset="0"/>
              </a:rPr>
              <a:t>evaluated</a:t>
            </a:r>
            <a:r>
              <a:rPr lang="it-IT" sz="1400" dirty="0">
                <a:latin typeface="Arial" panose="020B0604020202020204" pitchFamily="34" charset="0"/>
                <a:cs typeface="Arial" panose="020B0604020202020204" pitchFamily="34" charset="0"/>
              </a:rPr>
              <a:t> on the </a:t>
            </a:r>
            <a:r>
              <a:rPr lang="it-IT" sz="1400" dirty="0" err="1">
                <a:latin typeface="Arial" panose="020B0604020202020204" pitchFamily="34" charset="0"/>
                <a:cs typeface="Arial" panose="020B0604020202020204" pitchFamily="34" charset="0"/>
              </a:rPr>
              <a:t>same</a:t>
            </a:r>
            <a:r>
              <a:rPr lang="it-IT" sz="1400" dirty="0">
                <a:latin typeface="Arial" panose="020B0604020202020204" pitchFamily="34" charset="0"/>
                <a:cs typeface="Arial" panose="020B0604020202020204" pitchFamily="34" charset="0"/>
              </a:rPr>
              <a:t> scale. </a:t>
            </a:r>
          </a:p>
          <a:p>
            <a:endParaRPr lang="it-IT" sz="1400" dirty="0">
              <a:latin typeface="Arial" panose="020B0604020202020204" pitchFamily="34" charset="0"/>
              <a:cs typeface="Arial" panose="020B0604020202020204" pitchFamily="34" charset="0"/>
            </a:endParaRPr>
          </a:p>
          <a:p>
            <a:r>
              <a:rPr lang="it-IT" sz="1400" dirty="0">
                <a:latin typeface="Arial" panose="020B0604020202020204" pitchFamily="34" charset="0"/>
                <a:cs typeface="Arial" panose="020B0604020202020204" pitchFamily="34" charset="0"/>
              </a:rPr>
              <a:t>The </a:t>
            </a:r>
            <a:r>
              <a:rPr lang="it-IT" sz="1400" dirty="0" err="1">
                <a:latin typeface="Arial" panose="020B0604020202020204" pitchFamily="34" charset="0"/>
                <a:cs typeface="Arial" panose="020B0604020202020204" pitchFamily="34" charset="0"/>
              </a:rPr>
              <a:t>highest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normalized</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value</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is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recorded</a:t>
            </a:r>
            <a:r>
              <a:rPr lang="it-IT" sz="1400" dirty="0">
                <a:latin typeface="Arial" panose="020B0604020202020204" pitchFamily="34" charset="0"/>
                <a:cs typeface="Arial" panose="020B0604020202020204" pitchFamily="34" charset="0"/>
              </a:rPr>
              <a:t> by Municipio 9 - Porta Garibaldi / Niguarda, </a:t>
            </a:r>
            <a:r>
              <a:rPr lang="it-IT" sz="1400" dirty="0" err="1">
                <a:latin typeface="Arial" panose="020B0604020202020204" pitchFamily="34" charset="0"/>
                <a:cs typeface="Arial" panose="020B0604020202020204" pitchFamily="34" charset="0"/>
              </a:rPr>
              <a:t>suggesting</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that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this</a:t>
            </a:r>
            <a:r>
              <a:rPr lang="it-IT" sz="1400" dirty="0">
                <a:latin typeface="Arial" panose="020B0604020202020204" pitchFamily="34" charset="0"/>
                <a:cs typeface="Arial" panose="020B0604020202020204" pitchFamily="34" charset="0"/>
              </a:rPr>
              <a:t> area </a:t>
            </a:r>
            <a:r>
              <a:rPr lang="it-IT" sz="1400" dirty="0" err="1">
                <a:latin typeface="Arial" panose="020B0604020202020204" pitchFamily="34" charset="0"/>
                <a:cs typeface="Arial" panose="020B0604020202020204" pitchFamily="34" charset="0"/>
              </a:rPr>
              <a:t>has</a:t>
            </a:r>
            <a:r>
              <a:rPr lang="it-IT" sz="1400" dirty="0">
                <a:latin typeface="Arial" panose="020B0604020202020204" pitchFamily="34" charset="0"/>
                <a:cs typeface="Arial" panose="020B0604020202020204" pitchFamily="34" charset="0"/>
              </a:rPr>
              <a:t> the </a:t>
            </a:r>
            <a:r>
              <a:rPr lang="it-IT" sz="1400" dirty="0" err="1">
                <a:latin typeface="Arial" panose="020B0604020202020204" pitchFamily="34" charset="0"/>
                <a:cs typeface="Arial" panose="020B0604020202020204" pitchFamily="34" charset="0"/>
              </a:rPr>
              <a:t>highest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accident</a:t>
            </a:r>
            <a:r>
              <a:rPr lang="it-IT" sz="1400" dirty="0">
                <a:latin typeface="Arial" panose="020B0604020202020204" pitchFamily="34" charset="0"/>
                <a:cs typeface="Arial" panose="020B0604020202020204" pitchFamily="34" charset="0"/>
              </a:rPr>
              <a:t> burden relative to </a:t>
            </a:r>
            <a:r>
              <a:rPr lang="it-IT" sz="1400" dirty="0" err="1">
                <a:latin typeface="Arial" panose="020B0604020202020204" pitchFamily="34" charset="0"/>
                <a:cs typeface="Arial" panose="020B0604020202020204" pitchFamily="34" charset="0"/>
              </a:rPr>
              <a:t>its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resident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population</a:t>
            </a:r>
            <a:r>
              <a:rPr lang="it-IT" sz="1400" dirty="0">
                <a:latin typeface="Arial" panose="020B0604020202020204" pitchFamily="34" charset="0"/>
                <a:cs typeface="Arial" panose="020B0604020202020204" pitchFamily="34" charset="0"/>
              </a:rPr>
              <a:t>. </a:t>
            </a:r>
          </a:p>
          <a:p>
            <a:endParaRPr lang="it-IT" sz="1400" dirty="0">
              <a:latin typeface="Arial" panose="020B0604020202020204" pitchFamily="34" charset="0"/>
              <a:cs typeface="Arial" panose="020B0604020202020204" pitchFamily="34" charset="0"/>
            </a:endParaRPr>
          </a:p>
          <a:p>
            <a:r>
              <a:rPr lang="it-IT" sz="1400" dirty="0" err="1">
                <a:latin typeface="Arial" panose="020B0604020202020204" pitchFamily="34" charset="0"/>
                <a:cs typeface="Arial" panose="020B0604020202020204" pitchFamily="34" charset="0"/>
              </a:rPr>
              <a:t>However</a:t>
            </a:r>
            <a:r>
              <a:rPr lang="it-IT" sz="1400" dirty="0">
                <a:latin typeface="Arial" panose="020B0604020202020204" pitchFamily="34" charset="0"/>
                <a:cs typeface="Arial" panose="020B0604020202020204" pitchFamily="34" charset="0"/>
              </a:rPr>
              <a:t>, the </a:t>
            </a:r>
            <a:r>
              <a:rPr lang="it-IT" sz="1400" dirty="0" err="1">
                <a:latin typeface="Arial" panose="020B0604020202020204" pitchFamily="34" charset="0"/>
                <a:cs typeface="Arial" panose="020B0604020202020204" pitchFamily="34" charset="0"/>
              </a:rPr>
              <a:t>result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should</a:t>
            </a:r>
            <a:r>
              <a:rPr lang="it-IT" sz="1400" dirty="0">
                <a:latin typeface="Arial" panose="020B0604020202020204" pitchFamily="34" charset="0"/>
                <a:cs typeface="Arial" panose="020B0604020202020204" pitchFamily="34" charset="0"/>
              </a:rPr>
              <a:t> be </a:t>
            </a:r>
            <a:r>
              <a:rPr lang="it-IT" sz="1400" dirty="0" err="1">
                <a:latin typeface="Arial" panose="020B0604020202020204" pitchFamily="34" charset="0"/>
                <a:cs typeface="Arial" panose="020B0604020202020204" pitchFamily="34" charset="0"/>
              </a:rPr>
              <a:t>interpreted</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carefully</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because</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resident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population</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does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not</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fully</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capture</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daily</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mobility</a:t>
            </a:r>
            <a:r>
              <a:rPr lang="it-IT" sz="1400" dirty="0">
                <a:latin typeface="Arial" panose="020B0604020202020204" pitchFamily="34" charset="0"/>
                <a:cs typeface="Arial" panose="020B0604020202020204" pitchFamily="34" charset="0"/>
              </a:rPr>
              <a:t> flows, </a:t>
            </a:r>
            <a:r>
              <a:rPr lang="it-IT" sz="1400" dirty="0" err="1">
                <a:latin typeface="Arial" panose="020B0604020202020204" pitchFamily="34" charset="0"/>
                <a:cs typeface="Arial" panose="020B0604020202020204" pitchFamily="34" charset="0"/>
              </a:rPr>
              <a:t>commuters</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tourists</a:t>
            </a:r>
            <a:r>
              <a:rPr lang="it-IT" sz="1400" dirty="0">
                <a:latin typeface="Arial" panose="020B0604020202020204" pitchFamily="34" charset="0"/>
                <a:cs typeface="Arial" panose="020B0604020202020204" pitchFamily="34" charset="0"/>
              </a:rPr>
              <a:t> or people </a:t>
            </a:r>
            <a:r>
              <a:rPr lang="it-IT" sz="1400" dirty="0" err="1">
                <a:latin typeface="Arial" panose="020B0604020202020204" pitchFamily="34" charset="0"/>
                <a:cs typeface="Arial" panose="020B0604020202020204" pitchFamily="34" charset="0"/>
              </a:rPr>
              <a:t>who</a:t>
            </a:r>
            <a:r>
              <a:rPr lang="it-IT" sz="1400" dirty="0">
                <a:latin typeface="Arial" panose="020B0604020202020204" pitchFamily="34" charset="0"/>
                <a:cs typeface="Arial" panose="020B0604020202020204" pitchFamily="34" charset="0"/>
              </a:rPr>
              <a:t> cross the area </a:t>
            </a:r>
            <a:r>
              <a:rPr lang="it-IT" sz="1400" dirty="0" err="1">
                <a:latin typeface="Arial" panose="020B0604020202020204" pitchFamily="34" charset="0"/>
                <a:cs typeface="Arial" panose="020B0604020202020204" pitchFamily="34" charset="0"/>
              </a:rPr>
              <a:t>without</a:t>
            </a:r>
            <a:r>
              <a:rPr lang="it-IT" sz="1400" dirty="0">
                <a:latin typeface="Arial" panose="020B0604020202020204" pitchFamily="34" charset="0"/>
                <a:cs typeface="Arial" panose="020B0604020202020204" pitchFamily="34" charset="0"/>
              </a:rPr>
              <a:t> living </a:t>
            </a:r>
            <a:r>
              <a:rPr lang="it-IT" sz="1400" dirty="0" err="1">
                <a:latin typeface="Arial" panose="020B0604020202020204" pitchFamily="34" charset="0"/>
                <a:cs typeface="Arial" panose="020B0604020202020204" pitchFamily="34" charset="0"/>
              </a:rPr>
              <a:t>there</a:t>
            </a:r>
            <a:r>
              <a:rPr lang="it-IT" sz="1400" dirty="0">
                <a:latin typeface="Arial" panose="020B0604020202020204" pitchFamily="34" charset="0"/>
                <a:cs typeface="Arial" panose="020B0604020202020204"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58E7DF5-EF33-89CD-A0E8-D3208B1FB4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FA862A-3313-1C0D-DB86-43B56CF3B10A}"/>
              </a:ext>
            </a:extLst>
          </p:cNvPr>
          <p:cNvSpPr txBox="1"/>
          <p:nvPr/>
        </p:nvSpPr>
        <p:spPr>
          <a:xfrm>
            <a:off x="716280" y="280332"/>
            <a:ext cx="9850539" cy="954107"/>
          </a:xfrm>
          <a:prstGeom prst="rect">
            <a:avLst/>
          </a:prstGeom>
          <a:noFill/>
        </p:spPr>
        <p:txBody>
          <a:bodyPr wrap="square">
            <a:spAutoFit/>
          </a:bodyPr>
          <a:lstStyle/>
          <a:p>
            <a:r>
              <a:rPr lang="en-US" sz="2800" b="1" i="0">
                <a:solidFill>
                  <a:srgbClr val="111111"/>
                </a:solidFill>
                <a:latin typeface="Courier New"/>
              </a:rPr>
              <a:t>Which limitations should be considered when using police-recorded accident data?</a:t>
            </a:r>
            <a:endParaRPr lang="en-US" sz="2800" b="1" i="0" dirty="0">
              <a:solidFill>
                <a:srgbClr val="111111"/>
              </a:solidFill>
              <a:latin typeface="Courier New"/>
            </a:endParaRPr>
          </a:p>
        </p:txBody>
      </p:sp>
      <p:sp>
        <p:nvSpPr>
          <p:cNvPr id="8" name="TextBox 7">
            <a:extLst>
              <a:ext uri="{FF2B5EF4-FFF2-40B4-BE49-F238E27FC236}">
                <a16:creationId xmlns:a16="http://schemas.microsoft.com/office/drawing/2014/main" id="{5B32C6FA-F649-6497-324E-059EFFC5C94A}"/>
              </a:ext>
            </a:extLst>
          </p:cNvPr>
          <p:cNvSpPr txBox="1"/>
          <p:nvPr/>
        </p:nvSpPr>
        <p:spPr>
          <a:xfrm>
            <a:off x="594360" y="6473952"/>
            <a:ext cx="2353529" cy="215444"/>
          </a:xfrm>
          <a:prstGeom prst="rect">
            <a:avLst/>
          </a:prstGeom>
          <a:noFill/>
        </p:spPr>
        <p:txBody>
          <a:bodyPr wrap="none">
            <a:spAutoFit/>
          </a:bodyPr>
          <a:lstStyle/>
          <a:p>
            <a:r>
              <a:rPr lang="en-US" sz="800">
                <a:solidFill>
                  <a:srgbClr val="777777"/>
                </a:solidFill>
                <a:latin typeface="Arial"/>
              </a:rPr>
              <a:t>Milano Road Safety • Data Visualization Project</a:t>
            </a:r>
            <a:endParaRPr lang="en-US" sz="800" dirty="0">
              <a:solidFill>
                <a:srgbClr val="777777"/>
              </a:solidFill>
              <a:latin typeface="Arial"/>
            </a:endParaRPr>
          </a:p>
        </p:txBody>
      </p:sp>
      <p:sp>
        <p:nvSpPr>
          <p:cNvPr id="11" name="CasellaDiTesto 10">
            <a:extLst>
              <a:ext uri="{FF2B5EF4-FFF2-40B4-BE49-F238E27FC236}">
                <a16:creationId xmlns:a16="http://schemas.microsoft.com/office/drawing/2014/main" id="{19B91713-11E2-2BCF-3CF5-C19F1F90DF2D}"/>
              </a:ext>
            </a:extLst>
          </p:cNvPr>
          <p:cNvSpPr txBox="1"/>
          <p:nvPr/>
        </p:nvSpPr>
        <p:spPr>
          <a:xfrm>
            <a:off x="1600200" y="4466597"/>
            <a:ext cx="6769607" cy="1600438"/>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This visual explains the main limitation of the normalized indicator. Accidents per 10,000 residents use resident population as the denominator, but resident population does not fully represent real road exposure. Commuters, tourists, students and delivery workers may use the road network every day without being counted as residents. Moreover, police-recorded data may exclude minor or unreported accidents. Therefore, the indicator is useful for comparison, but it should not be interpreted as a complete measure of road-safety risk.</a:t>
            </a:r>
            <a:endParaRPr lang="en-US" sz="1400" dirty="0">
              <a:latin typeface="Arial" panose="020B0604020202020204" pitchFamily="34" charset="0"/>
              <a:cs typeface="Arial" panose="020B0604020202020204" pitchFamily="34" charset="0"/>
            </a:endParaRPr>
          </a:p>
        </p:txBody>
      </p:sp>
      <p:pic>
        <p:nvPicPr>
          <p:cNvPr id="5124" name="Picture 4">
            <a:extLst>
              <a:ext uri="{FF2B5EF4-FFF2-40B4-BE49-F238E27FC236}">
                <a16:creationId xmlns:a16="http://schemas.microsoft.com/office/drawing/2014/main" id="{A44F8D94-C53A-DB9C-2624-93C2B506E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312" y="1482538"/>
            <a:ext cx="8238744" cy="2735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611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7993" y="-91440"/>
            <a:ext cx="45719" cy="6858000"/>
          </a:xfrm>
          <a:prstGeom prst="rect">
            <a:avLst/>
          </a:prstGeom>
          <a:solidFill>
            <a:srgbClr val="E6E6E6"/>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143000"/>
            <a:ext cx="3474720" cy="548640"/>
          </a:xfrm>
          <a:prstGeom prst="rect">
            <a:avLst/>
          </a:prstGeom>
          <a:noFill/>
        </p:spPr>
        <p:txBody>
          <a:bodyPr wrap="none">
            <a:spAutoFit/>
          </a:bodyPr>
          <a:lstStyle/>
          <a:p>
            <a:r>
              <a:rPr lang="it-IT" sz="2600" b="1" i="0">
                <a:solidFill>
                  <a:srgbClr val="555555"/>
                </a:solidFill>
                <a:latin typeface="Courier New"/>
              </a:rPr>
              <a:t>LICENCE</a:t>
            </a:r>
          </a:p>
        </p:txBody>
      </p:sp>
      <p:sp>
        <p:nvSpPr>
          <p:cNvPr id="4" name="TextBox 3"/>
          <p:cNvSpPr txBox="1"/>
          <p:nvPr/>
        </p:nvSpPr>
        <p:spPr>
          <a:xfrm>
            <a:off x="4754880" y="1143000"/>
            <a:ext cx="5212080" cy="5242461"/>
          </a:xfrm>
          <a:prstGeom prst="rect">
            <a:avLst/>
          </a:prstGeom>
          <a:noFill/>
        </p:spPr>
        <p:txBody>
          <a:bodyPr wrap="square">
            <a:spAutoFit/>
          </a:bodyPr>
          <a:lstStyle/>
          <a:p>
            <a:pPr>
              <a:lnSpc>
                <a:spcPct val="100000"/>
              </a:lnSpc>
              <a:spcAft>
                <a:spcPts val="400"/>
              </a:spcAft>
            </a:pPr>
            <a:r>
              <a:rPr sz="1400" dirty="0">
                <a:solidFill>
                  <a:srgbClr val="14233B"/>
                </a:solidFill>
                <a:latin typeface="Arial"/>
              </a:rPr>
              <a:t>Slides are shared with the following license:</a:t>
            </a:r>
          </a:p>
          <a:p>
            <a:pPr>
              <a:lnSpc>
                <a:spcPct val="100000"/>
              </a:lnSpc>
              <a:spcAft>
                <a:spcPts val="400"/>
              </a:spcAft>
            </a:pPr>
            <a:endParaRPr sz="1400" dirty="0">
              <a:solidFill>
                <a:srgbClr val="14233B"/>
              </a:solidFill>
              <a:latin typeface="Arial"/>
            </a:endParaRPr>
          </a:p>
          <a:p>
            <a:pPr>
              <a:lnSpc>
                <a:spcPct val="100000"/>
              </a:lnSpc>
              <a:spcAft>
                <a:spcPts val="400"/>
              </a:spcAft>
            </a:pPr>
            <a:r>
              <a:rPr sz="1400" b="1" i="1" dirty="0">
                <a:solidFill>
                  <a:srgbClr val="14233B"/>
                </a:solidFill>
                <a:latin typeface="Arial"/>
              </a:rPr>
              <a:t>Road Safety in Milan</a:t>
            </a:r>
            <a:r>
              <a:rPr lang="en-US" sz="1400" b="1" i="1" dirty="0">
                <a:solidFill>
                  <a:srgbClr val="14233B"/>
                </a:solidFill>
                <a:latin typeface="Arial"/>
              </a:rPr>
              <a:t>:</a:t>
            </a:r>
            <a:r>
              <a:rPr lang="en-US" sz="1400" dirty="0">
                <a:solidFill>
                  <a:srgbClr val="14233B"/>
                </a:solidFill>
                <a:latin typeface="Arial"/>
              </a:rPr>
              <a:t> analysis of road accidents with injuries, severity and territorial risk</a:t>
            </a:r>
            <a:r>
              <a:rPr sz="1400" dirty="0">
                <a:solidFill>
                  <a:srgbClr val="14233B"/>
                </a:solidFill>
                <a:latin typeface="Arial"/>
              </a:rPr>
              <a:t> by </a:t>
            </a:r>
            <a:r>
              <a:rPr lang="it-IT" sz="1400" dirty="0">
                <a:solidFill>
                  <a:srgbClr val="14233B"/>
                </a:solidFill>
                <a:latin typeface="Arial"/>
              </a:rPr>
              <a:t>Biagio Chiarandà </a:t>
            </a:r>
            <a:r>
              <a:rPr sz="1400" dirty="0">
                <a:solidFill>
                  <a:srgbClr val="14233B"/>
                </a:solidFill>
                <a:latin typeface="Arial"/>
              </a:rPr>
              <a:t>is licensed under Creative Commons Attribution-</a:t>
            </a:r>
            <a:r>
              <a:rPr sz="1400" dirty="0" err="1">
                <a:solidFill>
                  <a:srgbClr val="14233B"/>
                </a:solidFill>
                <a:latin typeface="Arial"/>
              </a:rPr>
              <a:t>ShareAlike</a:t>
            </a:r>
            <a:r>
              <a:rPr sz="1400" dirty="0">
                <a:solidFill>
                  <a:srgbClr val="14233B"/>
                </a:solidFill>
                <a:latin typeface="Arial"/>
              </a:rPr>
              <a:t> 4.0 International </a:t>
            </a:r>
            <a:r>
              <a:rPr lang="it-IT" sz="1400" dirty="0">
                <a:solidFill>
                  <a:srgbClr val="14233B"/>
                </a:solidFill>
                <a:latin typeface="Arial"/>
                <a:hlinkClick r:id="rId2"/>
              </a:rPr>
              <a:t>https://creativecommons.org/licenses/by/4.0/</a:t>
            </a:r>
            <a:endParaRPr sz="1400" dirty="0">
              <a:solidFill>
                <a:srgbClr val="14233B"/>
              </a:solidFill>
              <a:latin typeface="Arial"/>
            </a:endParaRPr>
          </a:p>
          <a:p>
            <a:pPr>
              <a:lnSpc>
                <a:spcPct val="100000"/>
              </a:lnSpc>
              <a:spcAft>
                <a:spcPts val="400"/>
              </a:spcAft>
            </a:pPr>
            <a:endParaRPr sz="1400" dirty="0">
              <a:solidFill>
                <a:srgbClr val="14233B"/>
              </a:solidFill>
              <a:latin typeface="Arial"/>
            </a:endParaRPr>
          </a:p>
          <a:p>
            <a:pPr>
              <a:lnSpc>
                <a:spcPct val="100000"/>
              </a:lnSpc>
              <a:spcAft>
                <a:spcPts val="400"/>
              </a:spcAft>
            </a:pPr>
            <a:r>
              <a:rPr sz="1400" dirty="0">
                <a:solidFill>
                  <a:srgbClr val="14233B"/>
                </a:solidFill>
                <a:latin typeface="Arial"/>
              </a:rPr>
              <a:t>Data source:</a:t>
            </a:r>
          </a:p>
          <a:p>
            <a:pPr>
              <a:lnSpc>
                <a:spcPct val="100000"/>
              </a:lnSpc>
              <a:spcAft>
                <a:spcPts val="400"/>
              </a:spcAft>
            </a:pPr>
            <a:r>
              <a:rPr sz="1400" dirty="0">
                <a:solidFill>
                  <a:srgbClr val="14233B"/>
                </a:solidFill>
                <a:latin typeface="Arial"/>
              </a:rPr>
              <a:t>- Municipality of Milan Open Data: road accidents with injuries, 2001-2024.</a:t>
            </a:r>
          </a:p>
          <a:p>
            <a:pPr>
              <a:lnSpc>
                <a:spcPct val="100000"/>
              </a:lnSpc>
              <a:spcAft>
                <a:spcPts val="400"/>
              </a:spcAft>
            </a:pPr>
            <a:r>
              <a:rPr sz="1400" dirty="0">
                <a:solidFill>
                  <a:srgbClr val="14233B"/>
                </a:solidFill>
                <a:latin typeface="Arial"/>
              </a:rPr>
              <a:t>- Municipality of Milan Open Data: resident population by municipality, 1999-2025.</a:t>
            </a:r>
          </a:p>
          <a:p>
            <a:pPr>
              <a:lnSpc>
                <a:spcPct val="100000"/>
              </a:lnSpc>
              <a:spcAft>
                <a:spcPts val="400"/>
              </a:spcAft>
            </a:pPr>
            <a:r>
              <a:rPr sz="1400" dirty="0">
                <a:solidFill>
                  <a:srgbClr val="14233B"/>
                </a:solidFill>
                <a:latin typeface="Arial"/>
              </a:rPr>
              <a:t>- </a:t>
            </a:r>
            <a:r>
              <a:rPr lang="en-US" sz="1400" dirty="0">
                <a:solidFill>
                  <a:srgbClr val="14233B"/>
                </a:solidFill>
                <a:latin typeface="Arial"/>
              </a:rPr>
              <a:t>Municipality of Milan Open Data: resident population by citizenship and municipality (1999-2025).</a:t>
            </a:r>
          </a:p>
          <a:p>
            <a:pPr>
              <a:lnSpc>
                <a:spcPct val="100000"/>
              </a:lnSpc>
              <a:spcAft>
                <a:spcPts val="400"/>
              </a:spcAft>
            </a:pPr>
            <a:endParaRPr lang="en-US" sz="1400" u="sng" dirty="0">
              <a:solidFill>
                <a:srgbClr val="14233B"/>
              </a:solidFill>
              <a:latin typeface="Arial"/>
            </a:endParaRPr>
          </a:p>
          <a:p>
            <a:pPr>
              <a:lnSpc>
                <a:spcPct val="100000"/>
              </a:lnSpc>
              <a:spcAft>
                <a:spcPts val="400"/>
              </a:spcAft>
            </a:pPr>
            <a:r>
              <a:rPr lang="en-US" sz="1400" dirty="0">
                <a:solidFill>
                  <a:srgbClr val="14233B"/>
                </a:solidFill>
                <a:latin typeface="Arial"/>
              </a:rPr>
              <a:t>Interactive Dashboard</a:t>
            </a:r>
          </a:p>
          <a:p>
            <a:pPr>
              <a:lnSpc>
                <a:spcPct val="100000"/>
              </a:lnSpc>
              <a:spcAft>
                <a:spcPts val="400"/>
              </a:spcAft>
            </a:pPr>
            <a:r>
              <a:rPr lang="it-IT" sz="1400" dirty="0"/>
              <a:t>The dashboard </a:t>
            </a:r>
            <a:r>
              <a:rPr lang="it-IT" sz="1400" dirty="0" err="1"/>
              <a:t>was</a:t>
            </a:r>
            <a:r>
              <a:rPr lang="it-IT" sz="1400" dirty="0"/>
              <a:t> </a:t>
            </a:r>
            <a:r>
              <a:rPr lang="it-IT" sz="1400" dirty="0" err="1"/>
              <a:t>developed</a:t>
            </a:r>
            <a:r>
              <a:rPr lang="it-IT" sz="1400" dirty="0"/>
              <a:t> </a:t>
            </a:r>
            <a:r>
              <a:rPr lang="it-IT" sz="1400" dirty="0" err="1"/>
              <a:t>as</a:t>
            </a:r>
            <a:r>
              <a:rPr lang="it-IT" sz="1400" dirty="0"/>
              <a:t> a standalone HTML/CSS/JavaScript file and </a:t>
            </a:r>
            <a:r>
              <a:rPr lang="it-IT" sz="1400" dirty="0" err="1"/>
              <a:t>tested</a:t>
            </a:r>
            <a:r>
              <a:rPr lang="it-IT" sz="1400" dirty="0"/>
              <a:t> </a:t>
            </a:r>
            <a:r>
              <a:rPr lang="it-IT" sz="1400" dirty="0" err="1"/>
              <a:t>locally</a:t>
            </a:r>
            <a:r>
              <a:rPr lang="it-IT" sz="1400" dirty="0"/>
              <a:t> in the browser. </a:t>
            </a:r>
            <a:r>
              <a:rPr lang="it-IT" sz="1400" dirty="0" err="1"/>
              <a:t>It</a:t>
            </a:r>
            <a:r>
              <a:rPr lang="it-IT" sz="1400" dirty="0"/>
              <a:t> </a:t>
            </a:r>
            <a:r>
              <a:rPr lang="it-IT" sz="1400" dirty="0" err="1"/>
              <a:t>was</a:t>
            </a:r>
            <a:r>
              <a:rPr lang="it-IT" sz="1400" dirty="0"/>
              <a:t> </a:t>
            </a:r>
            <a:r>
              <a:rPr lang="it-IT" sz="1400" dirty="0" err="1"/>
              <a:t>then</a:t>
            </a:r>
            <a:r>
              <a:rPr lang="it-IT" sz="1400" dirty="0"/>
              <a:t> </a:t>
            </a:r>
            <a:r>
              <a:rPr lang="it-IT" sz="1400" dirty="0" err="1"/>
              <a:t>uploaded</a:t>
            </a:r>
            <a:r>
              <a:rPr lang="it-IT" sz="1400" dirty="0"/>
              <a:t> to GitHub and </a:t>
            </a:r>
            <a:r>
              <a:rPr lang="it-IT" sz="1400" dirty="0" err="1"/>
              <a:t>published</a:t>
            </a:r>
            <a:r>
              <a:rPr lang="it-IT" sz="1400" dirty="0"/>
              <a:t> online </a:t>
            </a:r>
            <a:r>
              <a:rPr lang="it-IT" sz="1400" dirty="0" err="1"/>
              <a:t>through</a:t>
            </a:r>
            <a:r>
              <a:rPr lang="it-IT" sz="1400" dirty="0"/>
              <a:t> GitHub Pages, so </a:t>
            </a:r>
            <a:r>
              <a:rPr lang="it-IT" sz="1400" dirty="0" err="1"/>
              <a:t>it</a:t>
            </a:r>
            <a:r>
              <a:rPr lang="it-IT" sz="1400" dirty="0"/>
              <a:t> can be </a:t>
            </a:r>
            <a:r>
              <a:rPr lang="it-IT" sz="1400" dirty="0" err="1"/>
              <a:t>accessed</a:t>
            </a:r>
            <a:r>
              <a:rPr lang="it-IT" sz="1400" dirty="0"/>
              <a:t> </a:t>
            </a:r>
            <a:r>
              <a:rPr lang="it-IT" sz="1400" dirty="0" err="1"/>
              <a:t>through</a:t>
            </a:r>
            <a:r>
              <a:rPr lang="it-IT" sz="1400" dirty="0"/>
              <a:t> a public link.</a:t>
            </a:r>
          </a:p>
          <a:p>
            <a:pPr>
              <a:lnSpc>
                <a:spcPct val="100000"/>
              </a:lnSpc>
              <a:spcAft>
                <a:spcPts val="400"/>
              </a:spcAft>
            </a:pPr>
            <a:r>
              <a:rPr lang="it-IT" sz="1400" dirty="0">
                <a:solidFill>
                  <a:schemeClr val="bg2"/>
                </a:solidFill>
                <a:hlinkClick r:id="rId3">
                  <a:extLst>
                    <a:ext uri="{A12FA001-AC4F-418D-AE19-62706E023703}">
                      <ahyp:hlinkClr xmlns:ahyp="http://schemas.microsoft.com/office/drawing/2018/hyperlinkcolor" val="tx"/>
                    </a:ext>
                  </a:extLst>
                </a:hlinkClick>
              </a:rPr>
              <a:t>Open the interactive dashboard</a:t>
            </a:r>
            <a:endParaRPr lang="en-US" sz="1400" dirty="0">
              <a:solidFill>
                <a:srgbClr val="14233B"/>
              </a:solidFill>
              <a:latin typeface="Arial"/>
            </a:endParaRPr>
          </a:p>
        </p:txBody>
      </p:sp>
      <p:sp>
        <p:nvSpPr>
          <p:cNvPr id="5" name="TextBox 4"/>
          <p:cNvSpPr txBox="1"/>
          <p:nvPr/>
        </p:nvSpPr>
        <p:spPr>
          <a:xfrm>
            <a:off x="594360" y="6473952"/>
            <a:ext cx="2353529" cy="215444"/>
          </a:xfrm>
          <a:prstGeom prst="rect">
            <a:avLst/>
          </a:prstGeom>
          <a:noFill/>
        </p:spPr>
        <p:txBody>
          <a:bodyPr wrap="none">
            <a:spAutoFit/>
          </a:bodyPr>
          <a:lstStyle/>
          <a:p>
            <a:r>
              <a:rPr lang="en-US" sz="800" dirty="0">
                <a:solidFill>
                  <a:srgbClr val="777777"/>
                </a:solidFill>
                <a:latin typeface="Arial"/>
              </a:rPr>
              <a:t>Milano Road Safety • Data Visualization Project</a:t>
            </a:r>
          </a:p>
        </p:txBody>
      </p:sp>
    </p:spTree>
  </p:cSld>
  <p:clrMapOvr>
    <a:masterClrMapping/>
  </p:clrMapOvr>
</p:sld>
</file>

<file path=ppt/theme/theme1.xml><?xml version="1.0" encoding="utf-8"?>
<a:theme xmlns:a="http://schemas.openxmlformats.org/drawingml/2006/main" name="Sfaccettatura">
  <a:themeElements>
    <a:clrScheme name="Personalizzato 2">
      <a:dk1>
        <a:sysClr val="windowText" lastClr="000000"/>
      </a:dk1>
      <a:lt1>
        <a:sysClr val="window" lastClr="FFFFFF"/>
      </a:lt1>
      <a:dk2>
        <a:srgbClr val="696464"/>
      </a:dk2>
      <a:lt2>
        <a:srgbClr val="9B2D1F"/>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faccettatur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250</TotalTime>
  <Words>1277</Words>
  <Application>Microsoft Office PowerPoint</Application>
  <PresentationFormat>Widescreen</PresentationFormat>
  <Paragraphs>82</Paragraphs>
  <Slides>10</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10</vt:i4>
      </vt:variant>
    </vt:vector>
  </HeadingPairs>
  <TitlesOfParts>
    <vt:vector size="16" baseType="lpstr">
      <vt:lpstr>Aptos</vt:lpstr>
      <vt:lpstr>Aptos Display</vt:lpstr>
      <vt:lpstr>Arial</vt:lpstr>
      <vt:lpstr>Courier New</vt:lpstr>
      <vt:lpstr>Wingdings 3</vt:lpstr>
      <vt:lpstr>Sfaccettatura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Biagio Chiarandà</cp:lastModifiedBy>
  <cp:revision>2</cp:revision>
  <dcterms:created xsi:type="dcterms:W3CDTF">2013-01-27T09:14:16Z</dcterms:created>
  <dcterms:modified xsi:type="dcterms:W3CDTF">2026-06-07T18:47:57Z</dcterms:modified>
  <cp:category/>
</cp:coreProperties>
</file>